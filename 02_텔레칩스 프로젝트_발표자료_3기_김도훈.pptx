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DE08-45C5-7384-9573-AD3D9DAA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551E6-7207-2175-A6CE-E588A109E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5D4C7-66F8-3E36-AEA8-AED6E1A70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7E283-4F21-7700-121C-F46F9FB1A8B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553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shorts/VOmGcFecgCk?si=5pFUwqZZHkTiRMW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isual-field">
            <a:extLst>
              <a:ext uri="{FF2B5EF4-FFF2-40B4-BE49-F238E27FC236}">
                <a16:creationId xmlns:a16="http://schemas.microsoft.com/office/drawing/2014/main" id="{4E86A01D-0E31-459A-A9FA-7B335EA33CDF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4419600" cy="6858000"/>
          </a:xfrm>
          <a:prstGeom prst="rect">
            <a:avLst/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D5F0824-89DC-4D93-A51D-C4FA5247CDE3}"/>
              </a:ext>
            </a:extLst>
          </p:cNvPr>
          <p:cNvSpPr>
            <a:spLocks noGrp="1"/>
          </p:cNvSpPr>
          <p:nvPr/>
        </p:nvSpPr>
        <p:spPr>
          <a:xfrm>
            <a:off x="8382000" y="1143000"/>
            <a:ext cx="2476500" cy="0"/>
          </a:xfrm>
          <a:prstGeom prst="line">
            <a:avLst/>
          </a:prstGeom>
          <a:noFill/>
          <a:ln w="47625">
            <a:solidFill>
              <a:srgbClr val="70D5F5"/>
            </a:solidFill>
            <a:prstDash val="solid"/>
          </a:ln>
        </p:spPr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0E6D5CA2-63C7-4A8E-9AE2-F1A3A3465DB5}"/>
              </a:ext>
            </a:extLst>
          </p:cNvPr>
          <p:cNvSpPr>
            <a:spLocks noGrp="1"/>
          </p:cNvSpPr>
          <p:nvPr/>
        </p:nvSpPr>
        <p:spPr>
          <a:xfrm>
            <a:off x="8382000" y="1504950"/>
            <a:ext cx="1809750" cy="0"/>
          </a:xfrm>
          <a:prstGeom prst="line">
            <a:avLst/>
          </a:prstGeom>
          <a:noFill/>
          <a:ln w="47625">
            <a:solidFill>
              <a:srgbClr val="2674FF"/>
            </a:solidFill>
            <a:prstDash val="solid"/>
          </a:ln>
        </p:spPr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B6B5FF3A-B602-4993-A8E5-21A1B503FCD8}"/>
              </a:ext>
            </a:extLst>
          </p:cNvPr>
          <p:cNvSpPr>
            <a:spLocks noGrp="1"/>
          </p:cNvSpPr>
          <p:nvPr/>
        </p:nvSpPr>
        <p:spPr>
          <a:xfrm>
            <a:off x="8382000" y="1866900"/>
            <a:ext cx="3048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49D993D-F0F6-4B3A-AA43-A87C0DFCD5CE}"/>
              </a:ext>
            </a:extLst>
          </p:cNvPr>
          <p:cNvSpPr>
            <a:spLocks noGrp="1"/>
          </p:cNvSpPr>
          <p:nvPr/>
        </p:nvSpPr>
        <p:spPr>
          <a:xfrm>
            <a:off x="8334375" y="2447925"/>
            <a:ext cx="8953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3450" b="1">
                <a:solidFill>
                  <a:srgbClr val="70D5F5"/>
                </a:solidFill>
              </a:defRPr>
            </a:pPr>
            <a:r>
              <a:rPr sz="3450" b="1">
                <a:solidFill>
                  <a:srgbClr val="70D5F5"/>
                </a:solidFill>
              </a:rPr>
              <a:t>AI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3B7F54D-28FA-43E9-BC99-DDFE4AC49859}"/>
              </a:ext>
            </a:extLst>
          </p:cNvPr>
          <p:cNvSpPr>
            <a:spLocks noGrp="1"/>
          </p:cNvSpPr>
          <p:nvPr/>
        </p:nvSpPr>
        <p:spPr>
          <a:xfrm>
            <a:off x="9191625" y="2447925"/>
            <a:ext cx="666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1FF6714-56DD-44C4-873A-429DB326374A}"/>
              </a:ext>
            </a:extLst>
          </p:cNvPr>
          <p:cNvSpPr>
            <a:spLocks noGrp="1"/>
          </p:cNvSpPr>
          <p:nvPr/>
        </p:nvSpPr>
        <p:spPr>
          <a:xfrm>
            <a:off x="9858375" y="2447925"/>
            <a:ext cx="142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CAN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D2B6E70-421C-4E41-A7BD-D61403198E16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674FF"/>
                </a:solidFill>
              </a:defRPr>
            </a:pPr>
            <a:r>
              <a:rPr sz="1050" b="1">
                <a:solidFill>
                  <a:srgbClr val="2674FF"/>
                </a:solidFill>
              </a:rPr>
              <a:t>PROJECT PORTFOLIO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212D852-A268-46CE-9B9E-8D460DD489AE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64770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4200" b="1">
                <a:solidFill>
                  <a:srgbClr val="111318"/>
                </a:solidFill>
              </a:defRPr>
            </a:pPr>
            <a:r>
              <a:rPr sz="4200" b="1">
                <a:solidFill>
                  <a:srgbClr val="111318"/>
                </a:solidFill>
              </a:rPr>
              <a:t>차량 비상 제동</a:t>
            </a:r>
          </a:p>
          <a:p>
            <a:pPr algn="l">
              <a:lnSpc>
                <a:spcPct val="110000"/>
              </a:lnSpc>
              <a:buNone/>
              <a:defRPr sz="4200" b="1">
                <a:solidFill>
                  <a:srgbClr val="111318"/>
                </a:solidFill>
              </a:defRPr>
            </a:pPr>
            <a:r>
              <a:rPr sz="4200" b="1">
                <a:solidFill>
                  <a:srgbClr val="111318"/>
                </a:solidFill>
              </a:rPr>
              <a:t>시스템 프로젝트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F7D3D48-B0CD-4D37-AB6E-FCEDFC00D3AE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628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59616D"/>
                </a:solidFill>
              </a:defRPr>
            </a:pPr>
            <a:r>
              <a:rPr sz="1800" b="0">
                <a:solidFill>
                  <a:srgbClr val="59616D"/>
                </a:solidFill>
              </a:rPr>
              <a:t>사용자 명령으로 인지 로그 보존과 차량 제어를 수행하는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9616D"/>
                </a:solidFill>
              </a:defRPr>
            </a:pPr>
            <a:r>
              <a:rPr sz="1800" b="0">
                <a:solidFill>
                  <a:srgbClr val="59616D"/>
                </a:solidFill>
              </a:rPr>
              <a:t>이기종 보드 기반 안전 시스템</a:t>
            </a:r>
          </a:p>
        </p:txBody>
      </p:sp>
      <p:sp>
        <p:nvSpPr>
          <p:cNvPr id="11" name="label-bg">
            <a:extLst>
              <a:ext uri="{FF2B5EF4-FFF2-40B4-BE49-F238E27FC236}">
                <a16:creationId xmlns:a16="http://schemas.microsoft.com/office/drawing/2014/main" id="{59597085-F0D5-4ACA-88B4-5501C6C57901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1238250" cy="266700"/>
          </a:xfrm>
          <a:prstGeom prst="roundRect">
            <a:avLst>
              <a:gd name="adj" fmla="val 42857"/>
            </a:avLst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12" name="label">
            <a:extLst>
              <a:ext uri="{FF2B5EF4-FFF2-40B4-BE49-F238E27FC236}">
                <a16:creationId xmlns:a16="http://schemas.microsoft.com/office/drawing/2014/main" id="{7FD6474C-E935-40D4-8A22-59F74C1CA099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개인 프로젝트</a:t>
            </a:r>
          </a:p>
        </p:txBody>
      </p:sp>
      <p:sp>
        <p:nvSpPr>
          <p:cNvPr id="13" name="label-bg">
            <a:extLst>
              <a:ext uri="{FF2B5EF4-FFF2-40B4-BE49-F238E27FC236}">
                <a16:creationId xmlns:a16="http://schemas.microsoft.com/office/drawing/2014/main" id="{25D951A0-BDD1-422B-824F-3ABF649AC87D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876300" cy="266700"/>
          </a:xfrm>
          <a:prstGeom prst="roundRect">
            <a:avLst>
              <a:gd name="adj" fmla="val 42857"/>
            </a:avLst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14" name="label">
            <a:extLst>
              <a:ext uri="{FF2B5EF4-FFF2-40B4-BE49-F238E27FC236}">
                <a16:creationId xmlns:a16="http://schemas.microsoft.com/office/drawing/2014/main" id="{2AFC4131-E084-46E7-B2CD-B10F2E5D5D2C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RTOS</a:t>
            </a:r>
          </a:p>
        </p:txBody>
      </p:sp>
      <p:sp>
        <p:nvSpPr>
          <p:cNvPr id="15" name="label-bg">
            <a:extLst>
              <a:ext uri="{FF2B5EF4-FFF2-40B4-BE49-F238E27FC236}">
                <a16:creationId xmlns:a16="http://schemas.microsoft.com/office/drawing/2014/main" id="{D2C00279-8337-45BB-B93C-75B3E37DB384}"/>
              </a:ext>
            </a:extLst>
          </p:cNvPr>
          <p:cNvSpPr>
            <a:spLocks noGrp="1"/>
          </p:cNvSpPr>
          <p:nvPr/>
        </p:nvSpPr>
        <p:spPr>
          <a:xfrm>
            <a:off x="3105150" y="4857750"/>
            <a:ext cx="1581150" cy="266700"/>
          </a:xfrm>
          <a:prstGeom prst="roundRect">
            <a:avLst>
              <a:gd name="adj" fmla="val 42857"/>
            </a:avLst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16" name="label">
            <a:extLst>
              <a:ext uri="{FF2B5EF4-FFF2-40B4-BE49-F238E27FC236}">
                <a16:creationId xmlns:a16="http://schemas.microsoft.com/office/drawing/2014/main" id="{B882FF69-30F3-45BE-B441-0FA719C0D119}"/>
              </a:ext>
            </a:extLst>
          </p:cNvPr>
          <p:cNvSpPr>
            <a:spLocks noGrp="1"/>
          </p:cNvSpPr>
          <p:nvPr/>
        </p:nvSpPr>
        <p:spPr>
          <a:xfrm>
            <a:off x="3105150" y="48577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Ethernet · CAN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C114A905-2C47-46A3-AB88-E00F3515B4F1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59616D"/>
                </a:solidFill>
              </a:defRPr>
            </a:pPr>
            <a:r>
              <a:rPr sz="1350" b="1">
                <a:solidFill>
                  <a:srgbClr val="59616D"/>
                </a:solidFill>
              </a:rPr>
              <a:t>AI-G  ·  D3-G  ·  VCP-G</a:t>
            </a:r>
          </a:p>
        </p:txBody>
      </p:sp>
    </p:spTree>
    <p:extLst>
      <p:ext uri="{BB962C8B-B14F-4D97-AF65-F5344CB8AC3E}">
        <p14:creationId xmlns:p14="http://schemas.microsoft.com/office/powerpoint/2010/main" val="143994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">
            <a:extLst>
              <a:ext uri="{FF2B5EF4-FFF2-40B4-BE49-F238E27FC236}">
                <a16:creationId xmlns:a16="http://schemas.microsoft.com/office/drawing/2014/main" id="{5EED85CD-12B8-4229-ABCD-89325AC7FE5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PROJECT OVERVIEW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BA1F44D-2F27-4032-A00E-D454EE8EE398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 dirty="0" err="1">
                <a:solidFill>
                  <a:srgbClr val="111318"/>
                </a:solidFill>
              </a:rPr>
              <a:t>프로젝트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개요</a:t>
            </a:r>
            <a:r>
              <a:rPr sz="2850" b="1" dirty="0">
                <a:solidFill>
                  <a:srgbClr val="111318"/>
                </a:solidFill>
              </a:rPr>
              <a:t> — 세 </a:t>
            </a:r>
            <a:r>
              <a:rPr sz="2850" b="1" dirty="0" err="1">
                <a:solidFill>
                  <a:srgbClr val="111318"/>
                </a:solidFill>
              </a:rPr>
              <a:t>보드의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역할을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분리해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기록과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안전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제어를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통합</a:t>
            </a:r>
            <a:endParaRPr sz="2850" b="1" dirty="0">
              <a:solidFill>
                <a:srgbClr val="111318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E3758E1-B8CF-45C0-9F9C-425246CD30AD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80571FB2-68F5-41F1-93B1-AB2C0B55708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69426BE-62D7-4EBF-8C4B-A39D15512E82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674FF"/>
                </a:solidFill>
              </a:defRPr>
            </a:pPr>
            <a:r>
              <a:rPr sz="1650" b="1">
                <a:solidFill>
                  <a:srgbClr val="2674FF"/>
                </a:solidFill>
              </a:rPr>
              <a:t>프로젝트 목표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0168B79-6F2D-4734-9553-E195E58E34DD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581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111318"/>
                </a:solidFill>
              </a:defRPr>
            </a:pPr>
            <a:r>
              <a:rPr sz="1800" b="1" dirty="0" err="1">
                <a:solidFill>
                  <a:srgbClr val="111318"/>
                </a:solidFill>
              </a:rPr>
              <a:t>사용자가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비상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제동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스크립트를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실행하면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인지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데이터를</a:t>
            </a:r>
            <a:endParaRPr sz="1800" b="1" dirty="0">
              <a:solidFill>
                <a:srgbClr val="111318"/>
              </a:solidFill>
            </a:endParaRPr>
          </a:p>
          <a:p>
            <a:pPr algn="l">
              <a:lnSpc>
                <a:spcPct val="110000"/>
              </a:lnSpc>
              <a:buNone/>
              <a:defRPr sz="1800" b="1">
                <a:solidFill>
                  <a:srgbClr val="111318"/>
                </a:solidFill>
              </a:defRPr>
            </a:pPr>
            <a:r>
              <a:rPr sz="1800" b="1" dirty="0" err="1">
                <a:solidFill>
                  <a:srgbClr val="111318"/>
                </a:solidFill>
              </a:rPr>
              <a:t>백업하고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차량을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안전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상태로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전환하는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시스템</a:t>
            </a:r>
            <a:r>
              <a:rPr sz="1800" b="1" dirty="0">
                <a:solidFill>
                  <a:srgbClr val="111318"/>
                </a:solidFill>
              </a:rPr>
              <a:t> </a:t>
            </a:r>
            <a:r>
              <a:rPr sz="1800" b="1" dirty="0" err="1">
                <a:solidFill>
                  <a:srgbClr val="111318"/>
                </a:solidFill>
              </a:rPr>
              <a:t>구현</a:t>
            </a:r>
            <a:endParaRPr sz="1800" b="1" dirty="0">
              <a:solidFill>
                <a:srgbClr val="111318"/>
              </a:solidFill>
            </a:endParaRPr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24455CFE-5A23-4626-AFE0-1FD6443E3D60}"/>
              </a:ext>
            </a:extLst>
          </p:cNvPr>
          <p:cNvSpPr>
            <a:spLocks noGrp="1"/>
          </p:cNvSpPr>
          <p:nvPr/>
        </p:nvSpPr>
        <p:spPr>
          <a:xfrm>
            <a:off x="952500" y="422910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endParaRPr/>
          </a:p>
        </p:txBody>
      </p:sp>
      <p:sp>
        <p:nvSpPr>
          <p:cNvPr id="11" name="bullet">
            <a:extLst>
              <a:ext uri="{FF2B5EF4-FFF2-40B4-BE49-F238E27FC236}">
                <a16:creationId xmlns:a16="http://schemas.microsoft.com/office/drawing/2014/main" id="{C4B438EB-6B75-486A-89A9-9C59DBC88D81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endParaRPr/>
          </a:p>
        </p:txBody>
      </p:sp>
      <p:sp>
        <p:nvSpPr>
          <p:cNvPr id="12" name="node">
            <a:extLst>
              <a:ext uri="{FF2B5EF4-FFF2-40B4-BE49-F238E27FC236}">
                <a16:creationId xmlns:a16="http://schemas.microsoft.com/office/drawing/2014/main" id="{903321A7-598C-478B-9568-4042B6F4ED51}"/>
              </a:ext>
            </a:extLst>
          </p:cNvPr>
          <p:cNvSpPr>
            <a:spLocks noGrp="1"/>
          </p:cNvSpPr>
          <p:nvPr/>
        </p:nvSpPr>
        <p:spPr>
          <a:xfrm>
            <a:off x="7382741" y="1657350"/>
            <a:ext cx="40005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3" name="accent">
            <a:extLst>
              <a:ext uri="{FF2B5EF4-FFF2-40B4-BE49-F238E27FC236}">
                <a16:creationId xmlns:a16="http://schemas.microsoft.com/office/drawing/2014/main" id="{1E86CAAA-BEE8-4B0A-98D2-170CEFA89D5A}"/>
              </a:ext>
            </a:extLst>
          </p:cNvPr>
          <p:cNvSpPr>
            <a:spLocks noGrp="1"/>
          </p:cNvSpPr>
          <p:nvPr/>
        </p:nvSpPr>
        <p:spPr>
          <a:xfrm>
            <a:off x="7382741" y="1657350"/>
            <a:ext cx="76200" cy="1009650"/>
          </a:xfrm>
          <a:prstGeom prst="rect">
            <a:avLst/>
          </a:prstGeom>
          <a:solidFill>
            <a:srgbClr val="70D5F5"/>
          </a:solidFill>
          <a:ln w="0">
            <a:noFill/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70FE574-BB7A-468B-AA60-55342CB3DE56}"/>
              </a:ext>
            </a:extLst>
          </p:cNvPr>
          <p:cNvSpPr>
            <a:spLocks noGrp="1"/>
          </p:cNvSpPr>
          <p:nvPr/>
        </p:nvSpPr>
        <p:spPr>
          <a:xfrm>
            <a:off x="7611341" y="17907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AI-G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AE467E3-38E5-4BCE-9BDD-2300F1B07959}"/>
              </a:ext>
            </a:extLst>
          </p:cNvPr>
          <p:cNvSpPr>
            <a:spLocks noGrp="1"/>
          </p:cNvSpPr>
          <p:nvPr/>
        </p:nvSpPr>
        <p:spPr>
          <a:xfrm>
            <a:off x="7611341" y="21145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객체 인식 / 영상 표시</a:t>
            </a:r>
          </a:p>
        </p:txBody>
      </p:sp>
      <p:sp>
        <p:nvSpPr>
          <p:cNvPr id="16" name="node">
            <a:extLst>
              <a:ext uri="{FF2B5EF4-FFF2-40B4-BE49-F238E27FC236}">
                <a16:creationId xmlns:a16="http://schemas.microsoft.com/office/drawing/2014/main" id="{95DD5D7C-8485-484C-8574-D815FA5F191A}"/>
              </a:ext>
            </a:extLst>
          </p:cNvPr>
          <p:cNvSpPr>
            <a:spLocks noGrp="1"/>
          </p:cNvSpPr>
          <p:nvPr/>
        </p:nvSpPr>
        <p:spPr>
          <a:xfrm>
            <a:off x="7382741" y="2971800"/>
            <a:ext cx="40005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7" name="accent">
            <a:extLst>
              <a:ext uri="{FF2B5EF4-FFF2-40B4-BE49-F238E27FC236}">
                <a16:creationId xmlns:a16="http://schemas.microsoft.com/office/drawing/2014/main" id="{FB03BAD2-71E2-4448-8D8C-69588B1D1448}"/>
              </a:ext>
            </a:extLst>
          </p:cNvPr>
          <p:cNvSpPr>
            <a:spLocks noGrp="1"/>
          </p:cNvSpPr>
          <p:nvPr/>
        </p:nvSpPr>
        <p:spPr>
          <a:xfrm>
            <a:off x="7382741" y="2971800"/>
            <a:ext cx="76200" cy="1009650"/>
          </a:xfrm>
          <a:prstGeom prst="rect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ACF2E9D-0200-4906-A266-54A232585E4C}"/>
              </a:ext>
            </a:extLst>
          </p:cNvPr>
          <p:cNvSpPr>
            <a:spLocks noGrp="1"/>
          </p:cNvSpPr>
          <p:nvPr/>
        </p:nvSpPr>
        <p:spPr>
          <a:xfrm>
            <a:off x="7611341" y="31051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D3-G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45DD202-F6EF-474D-93D3-29E317A45FFE}"/>
              </a:ext>
            </a:extLst>
          </p:cNvPr>
          <p:cNvSpPr>
            <a:spLocks noGrp="1"/>
          </p:cNvSpPr>
          <p:nvPr/>
        </p:nvSpPr>
        <p:spPr>
          <a:xfrm>
            <a:off x="7611341" y="342900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셸 스크립트 / 로그 백업 / CAN 명령</a:t>
            </a:r>
          </a:p>
        </p:txBody>
      </p:sp>
      <p:sp>
        <p:nvSpPr>
          <p:cNvPr id="20" name="node">
            <a:extLst>
              <a:ext uri="{FF2B5EF4-FFF2-40B4-BE49-F238E27FC236}">
                <a16:creationId xmlns:a16="http://schemas.microsoft.com/office/drawing/2014/main" id="{9A61B5E5-963C-466C-ADFF-9CE3BB7A621D}"/>
              </a:ext>
            </a:extLst>
          </p:cNvPr>
          <p:cNvSpPr>
            <a:spLocks noGrp="1"/>
          </p:cNvSpPr>
          <p:nvPr/>
        </p:nvSpPr>
        <p:spPr>
          <a:xfrm>
            <a:off x="7382741" y="4286250"/>
            <a:ext cx="40005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1" name="accent">
            <a:extLst>
              <a:ext uri="{FF2B5EF4-FFF2-40B4-BE49-F238E27FC236}">
                <a16:creationId xmlns:a16="http://schemas.microsoft.com/office/drawing/2014/main" id="{315B6798-8C7F-4FBB-8F07-8D3B17B5225C}"/>
              </a:ext>
            </a:extLst>
          </p:cNvPr>
          <p:cNvSpPr>
            <a:spLocks noGrp="1"/>
          </p:cNvSpPr>
          <p:nvPr/>
        </p:nvSpPr>
        <p:spPr>
          <a:xfrm>
            <a:off x="7382741" y="4286250"/>
            <a:ext cx="76200" cy="1009650"/>
          </a:xfrm>
          <a:prstGeom prst="rect">
            <a:avLst/>
          </a:prstGeom>
          <a:solidFill>
            <a:srgbClr val="E94D4D"/>
          </a:solidFill>
          <a:ln w="0">
            <a:noFill/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6D4A4EF5-E58F-4B4F-A8EC-4C677ACC3DEF}"/>
              </a:ext>
            </a:extLst>
          </p:cNvPr>
          <p:cNvSpPr>
            <a:spLocks noGrp="1"/>
          </p:cNvSpPr>
          <p:nvPr/>
        </p:nvSpPr>
        <p:spPr>
          <a:xfrm>
            <a:off x="7611341" y="44196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VCP-G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2A535496-D018-4CA2-9A3F-1905F21F86E8}"/>
              </a:ext>
            </a:extLst>
          </p:cNvPr>
          <p:cNvSpPr>
            <a:spLocks noGrp="1"/>
          </p:cNvSpPr>
          <p:nvPr/>
        </p:nvSpPr>
        <p:spPr>
          <a:xfrm>
            <a:off x="7611341" y="47434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CAN_DemoTask / 모터·비상등 제어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7F9997D-E008-8685-A713-16231C0B0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678" r="16768" b="-520"/>
          <a:stretch>
            <a:fillRect/>
          </a:stretch>
        </p:blipFill>
        <p:spPr>
          <a:xfrm rot="5400000">
            <a:off x="1771650" y="2850284"/>
            <a:ext cx="3638550" cy="385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icker">
            <a:extLst>
              <a:ext uri="{FF2B5EF4-FFF2-40B4-BE49-F238E27FC236}">
                <a16:creationId xmlns:a16="http://schemas.microsoft.com/office/drawing/2014/main" id="{9A25D236-EBF7-4AD4-8C7A-F0E6E0490D6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TOPIC &amp; RESULT SUMMARY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7B763C4-A5E9-43A6-919B-2E70B4709B77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1007436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 dirty="0" err="1">
                <a:solidFill>
                  <a:srgbClr val="111318"/>
                </a:solidFill>
              </a:rPr>
              <a:t>주제</a:t>
            </a:r>
            <a:r>
              <a:rPr sz="2850" b="1" dirty="0">
                <a:solidFill>
                  <a:srgbClr val="111318"/>
                </a:solidFill>
              </a:rPr>
              <a:t> 및 </a:t>
            </a:r>
            <a:r>
              <a:rPr sz="2850" b="1" dirty="0" err="1">
                <a:solidFill>
                  <a:srgbClr val="111318"/>
                </a:solidFill>
              </a:rPr>
              <a:t>결과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요약</a:t>
            </a:r>
            <a:r>
              <a:rPr sz="2850" b="1" dirty="0">
                <a:solidFill>
                  <a:srgbClr val="111318"/>
                </a:solidFill>
              </a:rPr>
              <a:t> — </a:t>
            </a:r>
            <a:r>
              <a:rPr sz="2850" b="1" dirty="0" err="1">
                <a:solidFill>
                  <a:srgbClr val="111318"/>
                </a:solidFill>
              </a:rPr>
              <a:t>로그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저장과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비상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제어를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하나의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흐름으로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구현</a:t>
            </a:r>
            <a:endParaRPr sz="2850" b="1" dirty="0">
              <a:solidFill>
                <a:srgbClr val="111318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F90C3131-29B1-4F25-95C1-B5CD4347D07C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5F238237-C3F8-4CBB-853F-D0DF5C43C686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03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F0258FB6-3C67-492A-A065-F2F3AD87ED8F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381250" cy="247650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16D1A07-CC83-496C-9F0D-E8C059121AED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59616D"/>
                </a:solidFill>
              </a:defRPr>
            </a:pPr>
            <a:r>
              <a:rPr sz="1350" b="1">
                <a:solidFill>
                  <a:srgbClr val="59616D"/>
                </a:solidFill>
              </a:rPr>
              <a:t>01  실행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1D94954-A988-4664-8D4E-096C4FE13FC8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19621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사용자가 D3-G에서</a:t>
            </a:r>
          </a:p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셸 스크립트 실행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94004E7F-4B19-42F9-A86A-D9AC6E9108B0}"/>
              </a:ext>
            </a:extLst>
          </p:cNvPr>
          <p:cNvSpPr>
            <a:spLocks noGrp="1"/>
          </p:cNvSpPr>
          <p:nvPr/>
        </p:nvSpPr>
        <p:spPr>
          <a:xfrm>
            <a:off x="3067050" y="3162300"/>
            <a:ext cx="457200" cy="0"/>
          </a:xfrm>
          <a:prstGeom prst="line">
            <a:avLst/>
          </a:prstGeom>
          <a:noFill/>
          <a:ln w="28575">
            <a:solidFill>
              <a:srgbClr val="2674FF"/>
            </a:solidFill>
            <a:prstDash val="solid"/>
          </a:ln>
        </p:spPr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7195924A-D0C7-40D5-830C-14A483F7436F}"/>
              </a:ext>
            </a:extLst>
          </p:cNvPr>
          <p:cNvSpPr>
            <a:spLocks noGrp="1"/>
          </p:cNvSpPr>
          <p:nvPr/>
        </p:nvSpPr>
        <p:spPr>
          <a:xfrm>
            <a:off x="3409950" y="3076575"/>
            <a:ext cx="171450" cy="171450"/>
          </a:xfrm>
          <a:prstGeom prst="chevron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2DCA25F5-7B6E-4908-A10C-16B07E931DFC}"/>
              </a:ext>
            </a:extLst>
          </p:cNvPr>
          <p:cNvSpPr>
            <a:spLocks noGrp="1"/>
          </p:cNvSpPr>
          <p:nvPr/>
        </p:nvSpPr>
        <p:spPr>
          <a:xfrm>
            <a:off x="3600450" y="1924050"/>
            <a:ext cx="2381250" cy="247650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F84EF83-482A-424D-9499-3127C7C153C1}"/>
              </a:ext>
            </a:extLst>
          </p:cNvPr>
          <p:cNvSpPr>
            <a:spLocks noGrp="1"/>
          </p:cNvSpPr>
          <p:nvPr/>
        </p:nvSpPr>
        <p:spPr>
          <a:xfrm>
            <a:off x="3810000" y="21336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59616D"/>
                </a:solidFill>
              </a:defRPr>
            </a:pPr>
            <a:r>
              <a:rPr sz="1350" b="1">
                <a:solidFill>
                  <a:srgbClr val="59616D"/>
                </a:solidFill>
              </a:rPr>
              <a:t>02  기록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A20049C-357E-4C05-9465-AF23C5CA8B7E}"/>
              </a:ext>
            </a:extLst>
          </p:cNvPr>
          <p:cNvSpPr>
            <a:spLocks noGrp="1"/>
          </p:cNvSpPr>
          <p:nvPr/>
        </p:nvSpPr>
        <p:spPr>
          <a:xfrm>
            <a:off x="3810000" y="2781300"/>
            <a:ext cx="2095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 dirty="0" err="1">
                <a:solidFill>
                  <a:srgbClr val="111318"/>
                </a:solidFill>
              </a:rPr>
              <a:t>nc를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백그라운드로</a:t>
            </a:r>
            <a:endParaRPr sz="1650" b="1" dirty="0">
              <a:solidFill>
                <a:srgbClr val="111318"/>
              </a:solidFill>
            </a:endParaRPr>
          </a:p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 dirty="0" err="1">
                <a:solidFill>
                  <a:srgbClr val="111318"/>
                </a:solidFill>
              </a:rPr>
              <a:t>실행해</a:t>
            </a:r>
            <a:r>
              <a:rPr sz="1650" b="1" dirty="0">
                <a:solidFill>
                  <a:srgbClr val="111318"/>
                </a:solidFill>
              </a:rPr>
              <a:t> NDJSON </a:t>
            </a:r>
            <a:r>
              <a:rPr sz="1650" b="1" dirty="0" err="1">
                <a:solidFill>
                  <a:srgbClr val="111318"/>
                </a:solidFill>
              </a:rPr>
              <a:t>저장</a:t>
            </a:r>
            <a:endParaRPr sz="1650" b="1" dirty="0">
              <a:solidFill>
                <a:srgbClr val="111318"/>
              </a:solidFill>
            </a:endParaRPr>
          </a:p>
        </p:txBody>
      </p:sp>
      <p:sp>
        <p:nvSpPr>
          <p:cNvPr id="13" name="arrow">
            <a:extLst>
              <a:ext uri="{FF2B5EF4-FFF2-40B4-BE49-F238E27FC236}">
                <a16:creationId xmlns:a16="http://schemas.microsoft.com/office/drawing/2014/main" id="{19C9C527-B1B6-4CB9-95F3-61BA5A5209D9}"/>
              </a:ext>
            </a:extLst>
          </p:cNvPr>
          <p:cNvSpPr>
            <a:spLocks noGrp="1"/>
          </p:cNvSpPr>
          <p:nvPr/>
        </p:nvSpPr>
        <p:spPr>
          <a:xfrm>
            <a:off x="5981700" y="3162300"/>
            <a:ext cx="457200" cy="0"/>
          </a:xfrm>
          <a:prstGeom prst="line">
            <a:avLst/>
          </a:prstGeom>
          <a:noFill/>
          <a:ln w="28575">
            <a:solidFill>
              <a:srgbClr val="2674FF"/>
            </a:solidFill>
            <a:prstDash val="solid"/>
          </a:ln>
        </p:spPr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B0A1AB1B-BBA5-434C-AF0D-8ED26B34E510}"/>
              </a:ext>
            </a:extLst>
          </p:cNvPr>
          <p:cNvSpPr>
            <a:spLocks noGrp="1"/>
          </p:cNvSpPr>
          <p:nvPr/>
        </p:nvSpPr>
        <p:spPr>
          <a:xfrm>
            <a:off x="6324600" y="3076575"/>
            <a:ext cx="171450" cy="171450"/>
          </a:xfrm>
          <a:prstGeom prst="chevron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08033D41-8ED3-46FB-A287-C1DDF74A237F}"/>
              </a:ext>
            </a:extLst>
          </p:cNvPr>
          <p:cNvSpPr>
            <a:spLocks noGrp="1"/>
          </p:cNvSpPr>
          <p:nvPr/>
        </p:nvSpPr>
        <p:spPr>
          <a:xfrm>
            <a:off x="6515100" y="1924050"/>
            <a:ext cx="2381250" cy="247650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79D7C4B-DBBD-4559-A80C-FC84EA99FB06}"/>
              </a:ext>
            </a:extLst>
          </p:cNvPr>
          <p:cNvSpPr>
            <a:spLocks noGrp="1"/>
          </p:cNvSpPr>
          <p:nvPr/>
        </p:nvSpPr>
        <p:spPr>
          <a:xfrm>
            <a:off x="6724650" y="21336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59616D"/>
                </a:solidFill>
              </a:defRPr>
            </a:pPr>
            <a:r>
              <a:rPr sz="1350" b="1">
                <a:solidFill>
                  <a:srgbClr val="59616D"/>
                </a:solidFill>
              </a:rPr>
              <a:t>03  전달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D1535CA-C002-4AA5-8E59-BC2F389F690D}"/>
              </a:ext>
            </a:extLst>
          </p:cNvPr>
          <p:cNvSpPr>
            <a:spLocks noGrp="1"/>
          </p:cNvSpPr>
          <p:nvPr/>
        </p:nvSpPr>
        <p:spPr>
          <a:xfrm>
            <a:off x="6724650" y="2781300"/>
            <a:ext cx="19621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CAN ID 108</a:t>
            </a:r>
          </a:p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Data 0x01 전송</a:t>
            </a:r>
          </a:p>
        </p:txBody>
      </p:sp>
      <p:sp>
        <p:nvSpPr>
          <p:cNvPr id="18" name="arrow">
            <a:extLst>
              <a:ext uri="{FF2B5EF4-FFF2-40B4-BE49-F238E27FC236}">
                <a16:creationId xmlns:a16="http://schemas.microsoft.com/office/drawing/2014/main" id="{DE53BCA1-6023-4BDC-BB53-840F005D8B1C}"/>
              </a:ext>
            </a:extLst>
          </p:cNvPr>
          <p:cNvSpPr>
            <a:spLocks noGrp="1"/>
          </p:cNvSpPr>
          <p:nvPr/>
        </p:nvSpPr>
        <p:spPr>
          <a:xfrm>
            <a:off x="8896350" y="3162300"/>
            <a:ext cx="457200" cy="0"/>
          </a:xfrm>
          <a:prstGeom prst="line">
            <a:avLst/>
          </a:prstGeom>
          <a:noFill/>
          <a:ln w="28575">
            <a:solidFill>
              <a:srgbClr val="2674FF"/>
            </a:solidFill>
            <a:prstDash val="solid"/>
          </a:ln>
        </p:spPr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3B63A290-12EA-4467-B4B9-973D41838BF5}"/>
              </a:ext>
            </a:extLst>
          </p:cNvPr>
          <p:cNvSpPr>
            <a:spLocks noGrp="1"/>
          </p:cNvSpPr>
          <p:nvPr/>
        </p:nvSpPr>
        <p:spPr>
          <a:xfrm>
            <a:off x="9239250" y="3076575"/>
            <a:ext cx="171450" cy="171450"/>
          </a:xfrm>
          <a:prstGeom prst="chevron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C0E8E368-556D-47CD-BB2C-E02FFC8B34AD}"/>
              </a:ext>
            </a:extLst>
          </p:cNvPr>
          <p:cNvSpPr>
            <a:spLocks noGrp="1"/>
          </p:cNvSpPr>
          <p:nvPr/>
        </p:nvSpPr>
        <p:spPr>
          <a:xfrm>
            <a:off x="9429749" y="1924050"/>
            <a:ext cx="2475923" cy="247650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A370E98D-89FF-4B47-A690-A797EDEE148C}"/>
              </a:ext>
            </a:extLst>
          </p:cNvPr>
          <p:cNvSpPr>
            <a:spLocks noGrp="1"/>
          </p:cNvSpPr>
          <p:nvPr/>
        </p:nvSpPr>
        <p:spPr>
          <a:xfrm>
            <a:off x="9639300" y="21336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674FF"/>
                </a:solidFill>
              </a:defRPr>
            </a:pPr>
            <a:r>
              <a:rPr sz="1350" b="1">
                <a:solidFill>
                  <a:srgbClr val="2674FF"/>
                </a:solidFill>
              </a:rPr>
              <a:t>04  안전 전환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6946BE5F-8F9E-476F-8E76-7CA77591D619}"/>
              </a:ext>
            </a:extLst>
          </p:cNvPr>
          <p:cNvSpPr>
            <a:spLocks noGrp="1"/>
          </p:cNvSpPr>
          <p:nvPr/>
        </p:nvSpPr>
        <p:spPr>
          <a:xfrm>
            <a:off x="9639300" y="2781300"/>
            <a:ext cx="2053936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 dirty="0" err="1">
                <a:solidFill>
                  <a:srgbClr val="111318"/>
                </a:solidFill>
              </a:rPr>
              <a:t>모터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태스크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중단</a:t>
            </a:r>
            <a:endParaRPr sz="1650" b="1" dirty="0">
              <a:solidFill>
                <a:srgbClr val="111318"/>
              </a:solidFill>
            </a:endParaRPr>
          </a:p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 dirty="0" err="1">
                <a:solidFill>
                  <a:srgbClr val="111318"/>
                </a:solidFill>
              </a:rPr>
              <a:t>비상등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태스크</a:t>
            </a:r>
            <a:r>
              <a:rPr sz="1650" b="1" dirty="0">
                <a:solidFill>
                  <a:srgbClr val="111318"/>
                </a:solidFill>
              </a:rPr>
              <a:t> </a:t>
            </a:r>
            <a:r>
              <a:rPr sz="1650" b="1" dirty="0" err="1">
                <a:solidFill>
                  <a:srgbClr val="111318"/>
                </a:solidFill>
              </a:rPr>
              <a:t>실행</a:t>
            </a:r>
            <a:endParaRPr sz="1650" b="1" dirty="0">
              <a:solidFill>
                <a:srgbClr val="111318"/>
              </a:solidFill>
            </a:endParaRP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733F04AE-3E42-44F5-97B4-689B4F8D09C0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674FF"/>
                </a:solidFill>
              </a:defRPr>
            </a:pPr>
            <a:r>
              <a:rPr sz="1650" b="1">
                <a:solidFill>
                  <a:srgbClr val="2674FF"/>
                </a:solidFill>
              </a:rPr>
              <a:t>구현 결과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E18115B-992D-492B-8D5B-29139E61B4A0}"/>
              </a:ext>
            </a:extLst>
          </p:cNvPr>
          <p:cNvSpPr>
            <a:spLocks noGrp="1"/>
          </p:cNvSpPr>
          <p:nvPr/>
        </p:nvSpPr>
        <p:spPr>
          <a:xfrm>
            <a:off x="2324100" y="4933950"/>
            <a:ext cx="859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111318"/>
                </a:solidFill>
              </a:defRPr>
            </a:pPr>
            <a:r>
              <a:rPr sz="1950" b="1">
                <a:solidFill>
                  <a:srgbClr val="111318"/>
                </a:solidFill>
              </a:rPr>
              <a:t>로그 저장을 병렬화해 제동 명령 지연을 줄이고 VCP-G의 태스크 상태를 전환</a:t>
            </a:r>
          </a:p>
        </p:txBody>
      </p:sp>
      <p:sp>
        <p:nvSpPr>
          <p:cNvPr id="25" name="bottom-note">
            <a:extLst>
              <a:ext uri="{FF2B5EF4-FFF2-40B4-BE49-F238E27FC236}">
                <a16:creationId xmlns:a16="http://schemas.microsoft.com/office/drawing/2014/main" id="{91E1D0AB-8CC3-477C-AD24-935F30E016D8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0">
                <a:solidFill>
                  <a:srgbClr val="59616D"/>
                </a:solidFill>
              </a:defRPr>
            </a:pPr>
            <a:r>
              <a:rPr sz="1050" b="0">
                <a:solidFill>
                  <a:srgbClr val="59616D"/>
                </a:solidFill>
              </a:rPr>
              <a:t>※ 정량 응답시간·정지거리 데이터는 추가 실험 후 보강 예정</a:t>
            </a:r>
          </a:p>
        </p:txBody>
      </p:sp>
    </p:spTree>
    <p:extLst>
      <p:ext uri="{BB962C8B-B14F-4D97-AF65-F5344CB8AC3E}">
        <p14:creationId xmlns:p14="http://schemas.microsoft.com/office/powerpoint/2010/main" val="204823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">
            <a:extLst>
              <a:ext uri="{FF2B5EF4-FFF2-40B4-BE49-F238E27FC236}">
                <a16:creationId xmlns:a16="http://schemas.microsoft.com/office/drawing/2014/main" id="{B2A7DE6A-2304-4208-BA61-B5EAC50CED1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GOALS &amp; RESULTS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265BC17-D17B-427D-B324-FD8FD38FF773}"/>
              </a:ext>
            </a:extLst>
          </p:cNvPr>
          <p:cNvSpPr>
            <a:spLocks noGrp="1"/>
          </p:cNvSpPr>
          <p:nvPr/>
        </p:nvSpPr>
        <p:spPr>
          <a:xfrm>
            <a:off x="556491" y="638175"/>
            <a:ext cx="1129376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 dirty="0" err="1">
                <a:solidFill>
                  <a:srgbClr val="111318"/>
                </a:solidFill>
              </a:rPr>
              <a:t>개발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목표</a:t>
            </a:r>
            <a:r>
              <a:rPr sz="2850" b="1" dirty="0">
                <a:solidFill>
                  <a:srgbClr val="111318"/>
                </a:solidFill>
              </a:rPr>
              <a:t> 및 </a:t>
            </a:r>
            <a:r>
              <a:rPr sz="2850" b="1" dirty="0" err="1">
                <a:solidFill>
                  <a:srgbClr val="111318"/>
                </a:solidFill>
              </a:rPr>
              <a:t>개발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결과</a:t>
            </a:r>
            <a:r>
              <a:rPr sz="2850" b="1" dirty="0">
                <a:solidFill>
                  <a:srgbClr val="111318"/>
                </a:solidFill>
              </a:rPr>
              <a:t> — </a:t>
            </a:r>
            <a:r>
              <a:rPr sz="2850" b="1" dirty="0" err="1">
                <a:solidFill>
                  <a:srgbClr val="111318"/>
                </a:solidFill>
              </a:rPr>
              <a:t>목표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기능을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모두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구현하고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안전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상태를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유지</a:t>
            </a:r>
            <a:endParaRPr sz="2850" b="1" dirty="0">
              <a:solidFill>
                <a:srgbClr val="111318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5AC24E76-3C03-4967-AACF-D1405D3B55C3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436F4319-5B89-4D0D-A790-8E7D08552975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04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7DBCB683-1542-49A1-BE2B-B8B41DD73CA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24200" cy="457200"/>
          </a:xfrm>
          <a:prstGeom prst="rect">
            <a:avLst/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68DEC20-38D8-4744-BAAE-82B71C87F645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개발 목표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86BD2D54-2888-4E07-BBC8-2476B03B3AE2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4495800" cy="457200"/>
          </a:xfrm>
          <a:prstGeom prst="rect">
            <a:avLst/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16E601B-9095-4BE3-BF1D-6AAED4EF30E8}"/>
              </a:ext>
            </a:extLst>
          </p:cNvPr>
          <p:cNvSpPr>
            <a:spLocks noGrp="1"/>
          </p:cNvSpPr>
          <p:nvPr/>
        </p:nvSpPr>
        <p:spPr>
          <a:xfrm>
            <a:off x="3962400" y="17145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개발 결과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AC205EB6-51F1-4D41-B3FF-4F7AB547B780}"/>
              </a:ext>
            </a:extLst>
          </p:cNvPr>
          <p:cNvSpPr>
            <a:spLocks noGrp="1"/>
          </p:cNvSpPr>
          <p:nvPr/>
        </p:nvSpPr>
        <p:spPr>
          <a:xfrm>
            <a:off x="8305800" y="1714500"/>
            <a:ext cx="3200400" cy="457200"/>
          </a:xfrm>
          <a:prstGeom prst="rect">
            <a:avLst/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9EE8CFA-DC9A-49F1-A85E-FBF1373407A0}"/>
              </a:ext>
            </a:extLst>
          </p:cNvPr>
          <p:cNvSpPr>
            <a:spLocks noGrp="1"/>
          </p:cNvSpPr>
          <p:nvPr/>
        </p:nvSpPr>
        <p:spPr>
          <a:xfrm>
            <a:off x="8458200" y="171450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D39CAA2B-5D02-4025-9BFE-62B14D28A173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124200" cy="781050"/>
          </a:xfrm>
          <a:prstGeom prst="rect">
            <a:avLst/>
          </a:prstGeom>
          <a:solidFill>
            <a:srgbClr val="F0F2F4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B1F4DF7-F25E-480C-A4D9-B6134532262C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2819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객체 인식 데이터 확보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9F1B0C5A-23E3-4B05-8FAB-E5284C3AC2AC}"/>
              </a:ext>
            </a:extLst>
          </p:cNvPr>
          <p:cNvSpPr>
            <a:spLocks noGrp="1"/>
          </p:cNvSpPr>
          <p:nvPr/>
        </p:nvSpPr>
        <p:spPr>
          <a:xfrm>
            <a:off x="3810000" y="2171700"/>
            <a:ext cx="4495800" cy="781050"/>
          </a:xfrm>
          <a:prstGeom prst="rect">
            <a:avLst/>
          </a:prstGeom>
          <a:solidFill>
            <a:srgbClr val="F0F2F4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FFBE5C4-1F45-45C2-AEE2-04AA547626B4}"/>
              </a:ext>
            </a:extLst>
          </p:cNvPr>
          <p:cNvSpPr>
            <a:spLocks noGrp="1"/>
          </p:cNvSpPr>
          <p:nvPr/>
        </p:nvSpPr>
        <p:spPr>
          <a:xfrm>
            <a:off x="3962400" y="224790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AI-G의 결과를 NDJSON으로 백업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E141B40D-7745-4466-A5CF-7BEC09ECE8E1}"/>
              </a:ext>
            </a:extLst>
          </p:cNvPr>
          <p:cNvSpPr>
            <a:spLocks noGrp="1"/>
          </p:cNvSpPr>
          <p:nvPr/>
        </p:nvSpPr>
        <p:spPr>
          <a:xfrm>
            <a:off x="8305800" y="2171700"/>
            <a:ext cx="3200400" cy="781050"/>
          </a:xfrm>
          <a:prstGeom prst="rect">
            <a:avLst/>
          </a:prstGeom>
          <a:solidFill>
            <a:srgbClr val="F0F2F4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13395D3-598C-474A-A878-66FAF3B59A2F}"/>
              </a:ext>
            </a:extLst>
          </p:cNvPr>
          <p:cNvSpPr>
            <a:spLocks noGrp="1"/>
          </p:cNvSpPr>
          <p:nvPr/>
        </p:nvSpPr>
        <p:spPr>
          <a:xfrm>
            <a:off x="8458200" y="2247900"/>
            <a:ext cx="2895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2674FF"/>
                </a:solidFill>
              </a:defRPr>
            </a:pPr>
            <a:r>
              <a:rPr sz="1350" b="1">
                <a:solidFill>
                  <a:srgbClr val="2674FF"/>
                </a:solidFill>
              </a:rPr>
              <a:t>구현 완료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60122C90-7C98-4446-B480-F69DA0C1B0FC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124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BB90787-B226-436A-B17A-F33872818FA9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2819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보드 간 제동 명령 전달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3FBB2F7B-DB73-4A98-B6AB-B2E0CCD161E9}"/>
              </a:ext>
            </a:extLst>
          </p:cNvPr>
          <p:cNvSpPr>
            <a:spLocks noGrp="1"/>
          </p:cNvSpPr>
          <p:nvPr/>
        </p:nvSpPr>
        <p:spPr>
          <a:xfrm>
            <a:off x="3810000" y="2952750"/>
            <a:ext cx="44958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6AE54204-8FB7-4888-8207-00C434DC7A72}"/>
              </a:ext>
            </a:extLst>
          </p:cNvPr>
          <p:cNvSpPr>
            <a:spLocks noGrp="1"/>
          </p:cNvSpPr>
          <p:nvPr/>
        </p:nvSpPr>
        <p:spPr>
          <a:xfrm>
            <a:off x="3962400" y="302895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D3-G → VCP-G CAN 통신</a:t>
            </a:r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E285FCBD-B2B2-4404-9AA2-F7FA17ED3DBE}"/>
              </a:ext>
            </a:extLst>
          </p:cNvPr>
          <p:cNvSpPr>
            <a:spLocks noGrp="1"/>
          </p:cNvSpPr>
          <p:nvPr/>
        </p:nvSpPr>
        <p:spPr>
          <a:xfrm>
            <a:off x="8305800" y="2952750"/>
            <a:ext cx="32004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4760AF5C-6771-4A80-8938-E7BCF9470626}"/>
              </a:ext>
            </a:extLst>
          </p:cNvPr>
          <p:cNvSpPr>
            <a:spLocks noGrp="1"/>
          </p:cNvSpPr>
          <p:nvPr/>
        </p:nvSpPr>
        <p:spPr>
          <a:xfrm>
            <a:off x="8458200" y="3028950"/>
            <a:ext cx="2895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2674FF"/>
                </a:solidFill>
              </a:defRPr>
            </a:pPr>
            <a:r>
              <a:rPr sz="1350" b="1">
                <a:solidFill>
                  <a:srgbClr val="2674FF"/>
                </a:solidFill>
              </a:rPr>
              <a:t>구현 완료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3374F4C7-FAD6-4D03-BE04-CC26600B48E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3124200" cy="781050"/>
          </a:xfrm>
          <a:prstGeom prst="rect">
            <a:avLst/>
          </a:prstGeom>
          <a:solidFill>
            <a:srgbClr val="F0F2F4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811B9FFB-7AC6-4BDD-A6E3-0FA8940F2EC0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2819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비상 상황 표시</a:t>
            </a:r>
          </a:p>
        </p:txBody>
      </p:sp>
      <p:sp>
        <p:nvSpPr>
          <p:cNvPr id="25" name="box">
            <a:extLst>
              <a:ext uri="{FF2B5EF4-FFF2-40B4-BE49-F238E27FC236}">
                <a16:creationId xmlns:a16="http://schemas.microsoft.com/office/drawing/2014/main" id="{EC3A5CF6-0C19-457D-B6B6-C4FFE5E6428C}"/>
              </a:ext>
            </a:extLst>
          </p:cNvPr>
          <p:cNvSpPr>
            <a:spLocks noGrp="1"/>
          </p:cNvSpPr>
          <p:nvPr/>
        </p:nvSpPr>
        <p:spPr>
          <a:xfrm>
            <a:off x="3810000" y="3733800"/>
            <a:ext cx="4495800" cy="781050"/>
          </a:xfrm>
          <a:prstGeom prst="rect">
            <a:avLst/>
          </a:prstGeom>
          <a:solidFill>
            <a:srgbClr val="F0F2F4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D2CF07BC-9E0A-4FC5-AB5D-FE713FB0D31A}"/>
              </a:ext>
            </a:extLst>
          </p:cNvPr>
          <p:cNvSpPr>
            <a:spLocks noGrp="1"/>
          </p:cNvSpPr>
          <p:nvPr/>
        </p:nvSpPr>
        <p:spPr>
          <a:xfrm>
            <a:off x="3962400" y="381000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VCP-G에서 비상등 LED 점멸</a:t>
            </a:r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1BA3CA1F-7250-4532-B3F2-33A2EAFA7C80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00400" cy="781050"/>
          </a:xfrm>
          <a:prstGeom prst="rect">
            <a:avLst/>
          </a:prstGeom>
          <a:solidFill>
            <a:srgbClr val="F0F2F4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06A5D48D-E741-4DDE-99A1-C2F3A021396B}"/>
              </a:ext>
            </a:extLst>
          </p:cNvPr>
          <p:cNvSpPr>
            <a:spLocks noGrp="1"/>
          </p:cNvSpPr>
          <p:nvPr/>
        </p:nvSpPr>
        <p:spPr>
          <a:xfrm>
            <a:off x="8458200" y="3810000"/>
            <a:ext cx="2895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2674FF"/>
                </a:solidFill>
              </a:defRPr>
            </a:pPr>
            <a:r>
              <a:rPr sz="1350" b="1">
                <a:solidFill>
                  <a:srgbClr val="2674FF"/>
                </a:solidFill>
              </a:rPr>
              <a:t>구현 완료</a:t>
            </a:r>
          </a:p>
        </p:txBody>
      </p:sp>
      <p:sp>
        <p:nvSpPr>
          <p:cNvPr id="29" name="box">
            <a:extLst>
              <a:ext uri="{FF2B5EF4-FFF2-40B4-BE49-F238E27FC236}">
                <a16:creationId xmlns:a16="http://schemas.microsoft.com/office/drawing/2014/main" id="{C4D3C768-D4B1-4811-BAE5-B38F2217D298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3124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1D2C5BA4-4396-46BC-9CF7-DD485157D769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2819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구동 모터 정지 · 조향 유지</a:t>
            </a:r>
          </a:p>
        </p:txBody>
      </p:sp>
      <p:sp>
        <p:nvSpPr>
          <p:cNvPr id="31" name="box">
            <a:extLst>
              <a:ext uri="{FF2B5EF4-FFF2-40B4-BE49-F238E27FC236}">
                <a16:creationId xmlns:a16="http://schemas.microsoft.com/office/drawing/2014/main" id="{00670BE1-CC0B-4E95-BA2C-98A79C866558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44958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EE224F61-11D1-43B9-AF86-5E6B9E5E054C}"/>
              </a:ext>
            </a:extLst>
          </p:cNvPr>
          <p:cNvSpPr>
            <a:spLocks noGrp="1"/>
          </p:cNvSpPr>
          <p:nvPr/>
        </p:nvSpPr>
        <p:spPr>
          <a:xfrm>
            <a:off x="3962400" y="459105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MotorSpeedTask 중단 / ServoMotorTask 유지</a:t>
            </a:r>
          </a:p>
        </p:txBody>
      </p:sp>
      <p:sp>
        <p:nvSpPr>
          <p:cNvPr id="33" name="box">
            <a:extLst>
              <a:ext uri="{FF2B5EF4-FFF2-40B4-BE49-F238E27FC236}">
                <a16:creationId xmlns:a16="http://schemas.microsoft.com/office/drawing/2014/main" id="{3F93D3BC-A948-4EB6-9A84-E4A82718F5D3}"/>
              </a:ext>
            </a:extLst>
          </p:cNvPr>
          <p:cNvSpPr>
            <a:spLocks noGrp="1"/>
          </p:cNvSpPr>
          <p:nvPr/>
        </p:nvSpPr>
        <p:spPr>
          <a:xfrm>
            <a:off x="8305800" y="4514850"/>
            <a:ext cx="32004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92007B93-0DA7-426A-A14B-C705CEE13DA8}"/>
              </a:ext>
            </a:extLst>
          </p:cNvPr>
          <p:cNvSpPr>
            <a:spLocks noGrp="1"/>
          </p:cNvSpPr>
          <p:nvPr/>
        </p:nvSpPr>
        <p:spPr>
          <a:xfrm>
            <a:off x="8458200" y="4591050"/>
            <a:ext cx="2895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2674FF"/>
                </a:solidFill>
              </a:defRPr>
            </a:pPr>
            <a:r>
              <a:rPr sz="1350" b="1">
                <a:solidFill>
                  <a:srgbClr val="2674FF"/>
                </a:solidFill>
              </a:rPr>
              <a:t>구현 완료</a:t>
            </a:r>
          </a:p>
        </p:txBody>
      </p:sp>
      <p:sp>
        <p:nvSpPr>
          <p:cNvPr id="35" name="bottom-note">
            <a:extLst>
              <a:ext uri="{FF2B5EF4-FFF2-40B4-BE49-F238E27FC236}">
                <a16:creationId xmlns:a16="http://schemas.microsoft.com/office/drawing/2014/main" id="{C0E65972-9150-46AB-B2CE-14A027F60BE2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0">
                <a:solidFill>
                  <a:srgbClr val="59616D"/>
                </a:solidFill>
              </a:defRPr>
            </a:pPr>
            <a:r>
              <a:rPr sz="1050" b="0">
                <a:solidFill>
                  <a:srgbClr val="59616D"/>
                </a:solidFill>
              </a:rPr>
              <a:t>성능 평가는 기능 성공 여부 기준이며, 반복 횟수와 시간 기반 지표는 후속 측정 과제</a:t>
            </a:r>
          </a:p>
        </p:txBody>
      </p:sp>
    </p:spTree>
    <p:extLst>
      <p:ext uri="{BB962C8B-B14F-4D97-AF65-F5344CB8AC3E}">
        <p14:creationId xmlns:p14="http://schemas.microsoft.com/office/powerpoint/2010/main" val="137696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">
            <a:extLst>
              <a:ext uri="{FF2B5EF4-FFF2-40B4-BE49-F238E27FC236}">
                <a16:creationId xmlns:a16="http://schemas.microsoft.com/office/drawing/2014/main" id="{3B0866C8-2039-418D-AE5D-2BA630CC5C8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TECHNOLOGY OVERVIEW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003E925-0BD8-409E-8B60-D9CEAB2090B5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기술 개요 — Ethernet·CAN·FreeRTOS가 인지와 제어 계층을 연결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7F4DD127-26DF-4576-926F-37149186B7A6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81604564-CD2E-4F5C-99A4-C73BA66F398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05</a:t>
            </a:r>
          </a:p>
        </p:txBody>
      </p:sp>
      <p:sp>
        <p:nvSpPr>
          <p:cNvPr id="5" name="node">
            <a:extLst>
              <a:ext uri="{FF2B5EF4-FFF2-40B4-BE49-F238E27FC236}">
                <a16:creationId xmlns:a16="http://schemas.microsoft.com/office/drawing/2014/main" id="{0FD1C766-9C58-45BA-9513-186800D786BB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857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6" name="accent">
            <a:extLst>
              <a:ext uri="{FF2B5EF4-FFF2-40B4-BE49-F238E27FC236}">
                <a16:creationId xmlns:a16="http://schemas.microsoft.com/office/drawing/2014/main" id="{27514112-0443-4FFD-BEA3-26573F9F83BA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76200" cy="1619250"/>
          </a:xfrm>
          <a:prstGeom prst="rect">
            <a:avLst/>
          </a:prstGeom>
          <a:solidFill>
            <a:srgbClr val="70D5F5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6E029C4-6921-4B10-9498-3E107BD349AD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AI-G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B19DAD3-A628-4B23-9C97-960E5AED4885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CSI 카메라 · 객체 인식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DSI 디스플레이</a:t>
            </a:r>
          </a:p>
        </p:txBody>
      </p:sp>
      <p:sp>
        <p:nvSpPr>
          <p:cNvPr id="9" name="node">
            <a:extLst>
              <a:ext uri="{FF2B5EF4-FFF2-40B4-BE49-F238E27FC236}">
                <a16:creationId xmlns:a16="http://schemas.microsoft.com/office/drawing/2014/main" id="{99588108-3273-4950-B83A-72CE7FBFA87B}"/>
              </a:ext>
            </a:extLst>
          </p:cNvPr>
          <p:cNvSpPr>
            <a:spLocks noGrp="1"/>
          </p:cNvSpPr>
          <p:nvPr/>
        </p:nvSpPr>
        <p:spPr>
          <a:xfrm>
            <a:off x="4667250" y="2209800"/>
            <a:ext cx="2857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0" name="accent">
            <a:extLst>
              <a:ext uri="{FF2B5EF4-FFF2-40B4-BE49-F238E27FC236}">
                <a16:creationId xmlns:a16="http://schemas.microsoft.com/office/drawing/2014/main" id="{2CD498ED-A142-4231-BBBF-3E9B92596376}"/>
              </a:ext>
            </a:extLst>
          </p:cNvPr>
          <p:cNvSpPr>
            <a:spLocks noGrp="1"/>
          </p:cNvSpPr>
          <p:nvPr/>
        </p:nvSpPr>
        <p:spPr>
          <a:xfrm>
            <a:off x="4667250" y="2209800"/>
            <a:ext cx="76200" cy="1619250"/>
          </a:xfrm>
          <a:prstGeom prst="rect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2102073-742F-4E42-AD3E-A0E26707181D}"/>
              </a:ext>
            </a:extLst>
          </p:cNvPr>
          <p:cNvSpPr>
            <a:spLocks noGrp="1"/>
          </p:cNvSpPr>
          <p:nvPr/>
        </p:nvSpPr>
        <p:spPr>
          <a:xfrm>
            <a:off x="4895850" y="2343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D3-G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F5A0A1E-26F3-4E32-BBB2-295E785A2923}"/>
              </a:ext>
            </a:extLst>
          </p:cNvPr>
          <p:cNvSpPr>
            <a:spLocks noGrp="1"/>
          </p:cNvSpPr>
          <p:nvPr/>
        </p:nvSpPr>
        <p:spPr>
          <a:xfrm>
            <a:off x="4895850" y="2667000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Shell command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nc 백그라운드 · CAN 명령</a:t>
            </a:r>
          </a:p>
        </p:txBody>
      </p:sp>
      <p:sp>
        <p:nvSpPr>
          <p:cNvPr id="13" name="node">
            <a:extLst>
              <a:ext uri="{FF2B5EF4-FFF2-40B4-BE49-F238E27FC236}">
                <a16:creationId xmlns:a16="http://schemas.microsoft.com/office/drawing/2014/main" id="{9411F0C6-7F59-4E01-B63A-F6347649E14E}"/>
              </a:ext>
            </a:extLst>
          </p:cNvPr>
          <p:cNvSpPr>
            <a:spLocks noGrp="1"/>
          </p:cNvSpPr>
          <p:nvPr/>
        </p:nvSpPr>
        <p:spPr>
          <a:xfrm>
            <a:off x="8648700" y="2209800"/>
            <a:ext cx="2857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4" name="accent">
            <a:extLst>
              <a:ext uri="{FF2B5EF4-FFF2-40B4-BE49-F238E27FC236}">
                <a16:creationId xmlns:a16="http://schemas.microsoft.com/office/drawing/2014/main" id="{CD660856-73C3-4FAE-8E3A-77339583DBEF}"/>
              </a:ext>
            </a:extLst>
          </p:cNvPr>
          <p:cNvSpPr>
            <a:spLocks noGrp="1"/>
          </p:cNvSpPr>
          <p:nvPr/>
        </p:nvSpPr>
        <p:spPr>
          <a:xfrm>
            <a:off x="8648700" y="2209800"/>
            <a:ext cx="76200" cy="1619250"/>
          </a:xfrm>
          <a:prstGeom prst="rect">
            <a:avLst/>
          </a:prstGeom>
          <a:solidFill>
            <a:srgbClr val="E94D4D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D7FBDAC-8E65-439E-8584-ACD9442EEA2A}"/>
              </a:ext>
            </a:extLst>
          </p:cNvPr>
          <p:cNvSpPr>
            <a:spLocks noGrp="1"/>
          </p:cNvSpPr>
          <p:nvPr/>
        </p:nvSpPr>
        <p:spPr>
          <a:xfrm>
            <a:off x="8877300" y="2343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VCP-G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D34A3E8-CD1F-4F88-A12E-3C70AA42EB64}"/>
              </a:ext>
            </a:extLst>
          </p:cNvPr>
          <p:cNvSpPr>
            <a:spLocks noGrp="1"/>
          </p:cNvSpPr>
          <p:nvPr/>
        </p:nvSpPr>
        <p:spPr>
          <a:xfrm>
            <a:off x="8877300" y="2667000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CAN_DemoTask · FreeRTOS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비상등 · L298N · DC 모터</a:t>
            </a:r>
          </a:p>
        </p:txBody>
      </p:sp>
      <p:sp>
        <p:nvSpPr>
          <p:cNvPr id="17" name="arrow">
            <a:extLst>
              <a:ext uri="{FF2B5EF4-FFF2-40B4-BE49-F238E27FC236}">
                <a16:creationId xmlns:a16="http://schemas.microsoft.com/office/drawing/2014/main" id="{0BFFB329-4424-4893-BB0D-AB0977C05115}"/>
              </a:ext>
            </a:extLst>
          </p:cNvPr>
          <p:cNvSpPr>
            <a:spLocks noGrp="1"/>
          </p:cNvSpPr>
          <p:nvPr/>
        </p:nvSpPr>
        <p:spPr>
          <a:xfrm>
            <a:off x="3543300" y="2714625"/>
            <a:ext cx="1047750" cy="0"/>
          </a:xfrm>
          <a:prstGeom prst="line">
            <a:avLst/>
          </a:prstGeom>
          <a:noFill/>
          <a:ln w="28575">
            <a:solidFill>
              <a:srgbClr val="70D5F5"/>
            </a:solidFill>
            <a:prstDash val="solid"/>
          </a:ln>
        </p:spPr>
      </p:sp>
      <p:sp>
        <p:nvSpPr>
          <p:cNvPr id="18" name="화살표: 갈매기형 수장 17">
            <a:extLst>
              <a:ext uri="{FF2B5EF4-FFF2-40B4-BE49-F238E27FC236}">
                <a16:creationId xmlns:a16="http://schemas.microsoft.com/office/drawing/2014/main" id="{7E43CD56-5E1F-405F-BD65-E371238EF223}"/>
              </a:ext>
            </a:extLst>
          </p:cNvPr>
          <p:cNvSpPr>
            <a:spLocks noGrp="1"/>
          </p:cNvSpPr>
          <p:nvPr/>
        </p:nvSpPr>
        <p:spPr>
          <a:xfrm>
            <a:off x="4476750" y="2628900"/>
            <a:ext cx="171450" cy="171450"/>
          </a:xfrm>
          <a:prstGeom prst="chevron">
            <a:avLst/>
          </a:prstGeom>
          <a:solidFill>
            <a:srgbClr val="70D5F5"/>
          </a:solidFill>
          <a:ln w="0">
            <a:noFill/>
            <a:prstDash val="solid"/>
          </a:ln>
        </p:spPr>
      </p:sp>
      <p:sp>
        <p:nvSpPr>
          <p:cNvPr id="19" name="arrow">
            <a:extLst>
              <a:ext uri="{FF2B5EF4-FFF2-40B4-BE49-F238E27FC236}">
                <a16:creationId xmlns:a16="http://schemas.microsoft.com/office/drawing/2014/main" id="{6247C7F3-61A7-4A9A-BC44-884DA6F235C2}"/>
              </a:ext>
            </a:extLst>
          </p:cNvPr>
          <p:cNvSpPr>
            <a:spLocks noGrp="1"/>
          </p:cNvSpPr>
          <p:nvPr/>
        </p:nvSpPr>
        <p:spPr>
          <a:xfrm>
            <a:off x="7524750" y="2714625"/>
            <a:ext cx="1047750" cy="0"/>
          </a:xfrm>
          <a:prstGeom prst="line">
            <a:avLst/>
          </a:prstGeom>
          <a:noFill/>
          <a:ln w="28575">
            <a:solidFill>
              <a:srgbClr val="2674FF"/>
            </a:solidFill>
            <a:prstDash val="solid"/>
          </a:ln>
        </p:spPr>
      </p:sp>
      <p:sp>
        <p:nvSpPr>
          <p:cNvPr id="20" name="화살표: 갈매기형 수장 19">
            <a:extLst>
              <a:ext uri="{FF2B5EF4-FFF2-40B4-BE49-F238E27FC236}">
                <a16:creationId xmlns:a16="http://schemas.microsoft.com/office/drawing/2014/main" id="{21163F24-B61A-4AC0-A8E0-4126E798A490}"/>
              </a:ext>
            </a:extLst>
          </p:cNvPr>
          <p:cNvSpPr>
            <a:spLocks noGrp="1"/>
          </p:cNvSpPr>
          <p:nvPr/>
        </p:nvSpPr>
        <p:spPr>
          <a:xfrm>
            <a:off x="8458200" y="2628900"/>
            <a:ext cx="171450" cy="171450"/>
          </a:xfrm>
          <a:prstGeom prst="chevron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B3686FC-B65C-41E1-9021-68B9F513A65C}"/>
              </a:ext>
            </a:extLst>
          </p:cNvPr>
          <p:cNvSpPr>
            <a:spLocks noGrp="1"/>
          </p:cNvSpPr>
          <p:nvPr/>
        </p:nvSpPr>
        <p:spPr>
          <a:xfrm>
            <a:off x="3600450" y="233362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125" b="1">
                <a:solidFill>
                  <a:srgbClr val="59616D"/>
                </a:solidFill>
              </a:defRPr>
            </a:pPr>
            <a:r>
              <a:rPr sz="1125" b="1">
                <a:solidFill>
                  <a:srgbClr val="59616D"/>
                </a:solidFill>
              </a:rPr>
              <a:t>Ethernet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095AA1D-794B-4F7A-840E-6D624008D2C1}"/>
              </a:ext>
            </a:extLst>
          </p:cNvPr>
          <p:cNvSpPr>
            <a:spLocks noGrp="1"/>
          </p:cNvSpPr>
          <p:nvPr/>
        </p:nvSpPr>
        <p:spPr>
          <a:xfrm>
            <a:off x="7781925" y="2333625"/>
            <a:ext cx="590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125" b="1">
                <a:solidFill>
                  <a:srgbClr val="59616D"/>
                </a:solidFill>
              </a:defRPr>
            </a:pPr>
            <a:r>
              <a:rPr sz="1125" b="1">
                <a:solidFill>
                  <a:srgbClr val="59616D"/>
                </a:solidFill>
              </a:rPr>
              <a:t>CAN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4B6D374D-0B36-4F51-A287-4DABB59A97EC}"/>
              </a:ext>
            </a:extLst>
          </p:cNvPr>
          <p:cNvSpPr>
            <a:spLocks noGrp="1"/>
          </p:cNvSpPr>
          <p:nvPr/>
        </p:nvSpPr>
        <p:spPr>
          <a:xfrm>
            <a:off x="3600450" y="30099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975" b="0">
                <a:solidFill>
                  <a:srgbClr val="59616D"/>
                </a:solidFill>
              </a:defRPr>
            </a:pPr>
            <a:r>
              <a:rPr sz="975" b="0">
                <a:solidFill>
                  <a:srgbClr val="59616D"/>
                </a:solidFill>
              </a:rPr>
              <a:t>192.168.0.100 : 9998</a:t>
            </a:r>
          </a:p>
        </p:txBody>
      </p:sp>
      <p:sp>
        <p:nvSpPr>
          <p:cNvPr id="24" name="box">
            <a:extLst>
              <a:ext uri="{FF2B5EF4-FFF2-40B4-BE49-F238E27FC236}">
                <a16:creationId xmlns:a16="http://schemas.microsoft.com/office/drawing/2014/main" id="{42B2A390-0C62-4792-A344-256AF3FFD2A0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820400" cy="9334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910A030-8E9B-4A09-9E45-418488194AC7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674FF"/>
                </a:solidFill>
              </a:defRPr>
            </a:pPr>
            <a:r>
              <a:rPr sz="1350" b="1">
                <a:solidFill>
                  <a:srgbClr val="2674FF"/>
                </a:solidFill>
              </a:rPr>
              <a:t>설계 포인트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4F0AC1A4-2C7D-4757-94E7-5A2E18C2D316}"/>
              </a:ext>
            </a:extLst>
          </p:cNvPr>
          <p:cNvSpPr>
            <a:spLocks noGrp="1"/>
          </p:cNvSpPr>
          <p:nvPr/>
        </p:nvSpPr>
        <p:spPr>
          <a:xfrm>
            <a:off x="2667000" y="4495800"/>
            <a:ext cx="8334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객체 인식은 AI-G, 명령 실행은 D3-G, CAN 수신과 액추에이터 제어는 VCP-G에 배치</a:t>
            </a:r>
          </a:p>
        </p:txBody>
      </p:sp>
    </p:spTree>
    <p:extLst>
      <p:ext uri="{BB962C8B-B14F-4D97-AF65-F5344CB8AC3E}">
        <p14:creationId xmlns:p14="http://schemas.microsoft.com/office/powerpoint/2010/main" val="171607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">
            <a:extLst>
              <a:ext uri="{FF2B5EF4-FFF2-40B4-BE49-F238E27FC236}">
                <a16:creationId xmlns:a16="http://schemas.microsoft.com/office/drawing/2014/main" id="{21A7E863-F441-44F1-8919-EDDEC8CC412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SYSTEM &amp; CORE TECHNOLOGY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159ED1A-87A8-45C9-877C-596A458B75A4}"/>
              </a:ext>
            </a:extLst>
          </p:cNvPr>
          <p:cNvSpPr>
            <a:spLocks noGrp="1"/>
          </p:cNvSpPr>
          <p:nvPr/>
        </p:nvSpPr>
        <p:spPr>
          <a:xfrm>
            <a:off x="569479" y="652462"/>
            <a:ext cx="1168169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 dirty="0" err="1">
                <a:solidFill>
                  <a:srgbClr val="111318"/>
                </a:solidFill>
              </a:rPr>
              <a:t>시스템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구성</a:t>
            </a:r>
            <a:r>
              <a:rPr sz="2850" b="1" dirty="0">
                <a:solidFill>
                  <a:srgbClr val="111318"/>
                </a:solidFill>
              </a:rPr>
              <a:t> 및 </a:t>
            </a:r>
            <a:r>
              <a:rPr sz="2850" b="1" dirty="0" err="1">
                <a:solidFill>
                  <a:srgbClr val="111318"/>
                </a:solidFill>
              </a:rPr>
              <a:t>핵심기술</a:t>
            </a:r>
            <a:r>
              <a:rPr sz="2850" b="1" dirty="0">
                <a:solidFill>
                  <a:srgbClr val="111318"/>
                </a:solidFill>
              </a:rPr>
              <a:t> — </a:t>
            </a:r>
            <a:r>
              <a:rPr sz="2850" b="1" dirty="0" err="1">
                <a:solidFill>
                  <a:srgbClr val="111318"/>
                </a:solidFill>
              </a:rPr>
              <a:t>로그는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병렬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저장하고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제동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명령은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즉시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실행</a:t>
            </a:r>
            <a:endParaRPr sz="2850" b="1" dirty="0">
              <a:solidFill>
                <a:srgbClr val="111318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EEE48E2B-40A4-45E9-80CC-1BCD4319E18B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3D3EDC3A-6039-4341-9E9B-3EAE252DF9C6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06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C4D7AC91-0942-43CA-B215-12D7885657C6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362200" cy="230505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27FE653-D31E-4FA3-959F-CB3BF43C380A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2400" b="1">
                <a:solidFill>
                  <a:srgbClr val="2674FF"/>
                </a:solidFill>
              </a:defRPr>
            </a:pPr>
            <a:r>
              <a:rPr sz="2400" b="1">
                <a:solidFill>
                  <a:srgbClr val="2674FF"/>
                </a:solidFill>
              </a:rPr>
              <a:t>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2F1DBE0-A080-4B93-93D7-BDC3B088E052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사용자 명령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80308C2-F764-4F54-AA1C-96AE6F3F0A2B}"/>
              </a:ext>
            </a:extLst>
          </p:cNvPr>
          <p:cNvSpPr>
            <a:spLocks noGrp="1"/>
          </p:cNvSpPr>
          <p:nvPr/>
        </p:nvSpPr>
        <p:spPr>
          <a:xfrm>
            <a:off x="895350" y="32194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9616D"/>
                </a:solidFill>
              </a:defRPr>
            </a:pPr>
            <a:r>
              <a:rPr sz="1200" b="0">
                <a:solidFill>
                  <a:srgbClr val="59616D"/>
                </a:solidFill>
              </a:rPr>
              <a:t>D3-G에서 .sh 파일 실행</a:t>
            </a:r>
          </a:p>
        </p:txBody>
      </p:sp>
      <p:sp>
        <p:nvSpPr>
          <p:cNvPr id="9" name="arrow">
            <a:extLst>
              <a:ext uri="{FF2B5EF4-FFF2-40B4-BE49-F238E27FC236}">
                <a16:creationId xmlns:a16="http://schemas.microsoft.com/office/drawing/2014/main" id="{C17D55B1-DD16-4306-A846-8420B81388F4}"/>
              </a:ext>
            </a:extLst>
          </p:cNvPr>
          <p:cNvSpPr>
            <a:spLocks noGrp="1"/>
          </p:cNvSpPr>
          <p:nvPr/>
        </p:nvSpPr>
        <p:spPr>
          <a:xfrm>
            <a:off x="3048000" y="3105150"/>
            <a:ext cx="266700" cy="0"/>
          </a:xfrm>
          <a:prstGeom prst="line">
            <a:avLst/>
          </a:prstGeom>
          <a:noFill/>
          <a:ln w="28575">
            <a:solidFill>
              <a:srgbClr val="2674FF"/>
            </a:solidFill>
            <a:prstDash val="solid"/>
          </a:ln>
        </p:spPr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84418E7D-6CA5-46B8-9071-59B0182764A4}"/>
              </a:ext>
            </a:extLst>
          </p:cNvPr>
          <p:cNvSpPr>
            <a:spLocks noGrp="1"/>
          </p:cNvSpPr>
          <p:nvPr/>
        </p:nvSpPr>
        <p:spPr>
          <a:xfrm>
            <a:off x="3200400" y="3019425"/>
            <a:ext cx="171450" cy="171450"/>
          </a:xfrm>
          <a:prstGeom prst="chevron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B61EF596-104C-4142-A9F9-516878D80960}"/>
              </a:ext>
            </a:extLst>
          </p:cNvPr>
          <p:cNvSpPr>
            <a:spLocks noGrp="1"/>
          </p:cNvSpPr>
          <p:nvPr/>
        </p:nvSpPr>
        <p:spPr>
          <a:xfrm>
            <a:off x="3390900" y="1962150"/>
            <a:ext cx="2362200" cy="230505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1D0FE07-8165-4026-802A-A1722FB561E4}"/>
              </a:ext>
            </a:extLst>
          </p:cNvPr>
          <p:cNvSpPr>
            <a:spLocks noGrp="1"/>
          </p:cNvSpPr>
          <p:nvPr/>
        </p:nvSpPr>
        <p:spPr>
          <a:xfrm>
            <a:off x="3581400" y="2114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2400" b="1">
                <a:solidFill>
                  <a:srgbClr val="2674FF"/>
                </a:solidFill>
              </a:defRPr>
            </a:pPr>
            <a:r>
              <a:rPr sz="2400" b="1">
                <a:solidFill>
                  <a:srgbClr val="2674FF"/>
                </a:solidFill>
              </a:rPr>
              <a:t>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412711A-4AB1-44CF-8C3F-81E0308DAC31}"/>
              </a:ext>
            </a:extLst>
          </p:cNvPr>
          <p:cNvSpPr>
            <a:spLocks noGrp="1"/>
          </p:cNvSpPr>
          <p:nvPr/>
        </p:nvSpPr>
        <p:spPr>
          <a:xfrm>
            <a:off x="3600450" y="27432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로그 병렬 저장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24ED603-1446-4181-AFA8-A713B8805252}"/>
              </a:ext>
            </a:extLst>
          </p:cNvPr>
          <p:cNvSpPr>
            <a:spLocks noGrp="1"/>
          </p:cNvSpPr>
          <p:nvPr/>
        </p:nvSpPr>
        <p:spPr>
          <a:xfrm>
            <a:off x="3600450" y="32194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9616D"/>
                </a:solidFill>
              </a:defRPr>
            </a:pPr>
            <a:r>
              <a:rPr sz="1200" b="0">
                <a:solidFill>
                  <a:srgbClr val="59616D"/>
                </a:solidFill>
              </a:rPr>
              <a:t>nc ... &gt; results.ndjson &amp;</a:t>
            </a:r>
          </a:p>
          <a:p>
            <a:pPr algn="l">
              <a:lnSpc>
                <a:spcPct val="110000"/>
              </a:lnSpc>
              <a:buNone/>
              <a:defRPr sz="1200" b="0">
                <a:solidFill>
                  <a:srgbClr val="59616D"/>
                </a:solidFill>
              </a:defRPr>
            </a:pPr>
            <a:r>
              <a:rPr sz="1200" b="0">
                <a:solidFill>
                  <a:srgbClr val="59616D"/>
                </a:solidFill>
              </a:rPr>
              <a:t>백그라운드 실행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569853A0-0A9E-40A9-B65D-0AC52850A425}"/>
              </a:ext>
            </a:extLst>
          </p:cNvPr>
          <p:cNvSpPr>
            <a:spLocks noGrp="1"/>
          </p:cNvSpPr>
          <p:nvPr/>
        </p:nvSpPr>
        <p:spPr>
          <a:xfrm>
            <a:off x="5753100" y="3105150"/>
            <a:ext cx="266700" cy="0"/>
          </a:xfrm>
          <a:prstGeom prst="line">
            <a:avLst/>
          </a:prstGeom>
          <a:noFill/>
          <a:ln w="28575">
            <a:solidFill>
              <a:srgbClr val="2674FF"/>
            </a:solidFill>
            <a:prstDash val="solid"/>
          </a:ln>
        </p:spPr>
      </p:sp>
      <p:sp>
        <p:nvSpPr>
          <p:cNvPr id="16" name="화살표: 갈매기형 수장 15">
            <a:extLst>
              <a:ext uri="{FF2B5EF4-FFF2-40B4-BE49-F238E27FC236}">
                <a16:creationId xmlns:a16="http://schemas.microsoft.com/office/drawing/2014/main" id="{D1BAA469-E396-40B9-A9B0-79BFB9C75BB2}"/>
              </a:ext>
            </a:extLst>
          </p:cNvPr>
          <p:cNvSpPr>
            <a:spLocks noGrp="1"/>
          </p:cNvSpPr>
          <p:nvPr/>
        </p:nvSpPr>
        <p:spPr>
          <a:xfrm>
            <a:off x="5905500" y="3019425"/>
            <a:ext cx="171450" cy="171450"/>
          </a:xfrm>
          <a:prstGeom prst="chevron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3F77A142-94A1-45A4-8E10-F44D7FB94C96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2362200" cy="230505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A29E98E-EF3C-440B-89E5-3F9F53F64A38}"/>
              </a:ext>
            </a:extLst>
          </p:cNvPr>
          <p:cNvSpPr>
            <a:spLocks noGrp="1"/>
          </p:cNvSpPr>
          <p:nvPr/>
        </p:nvSpPr>
        <p:spPr>
          <a:xfrm>
            <a:off x="6286500" y="2114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2400" b="1">
                <a:solidFill>
                  <a:srgbClr val="2674FF"/>
                </a:solidFill>
              </a:defRPr>
            </a:pPr>
            <a:r>
              <a:rPr sz="2400" b="1">
                <a:solidFill>
                  <a:srgbClr val="2674FF"/>
                </a:solidFill>
              </a:rPr>
              <a:t>3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BC053EE-4877-4578-8E7C-E5EA846DC734}"/>
              </a:ext>
            </a:extLst>
          </p:cNvPr>
          <p:cNvSpPr>
            <a:spLocks noGrp="1"/>
          </p:cNvSpPr>
          <p:nvPr/>
        </p:nvSpPr>
        <p:spPr>
          <a:xfrm>
            <a:off x="6305550" y="27432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CAN 명령 전송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6DC0166-165C-4D06-ADBC-415FA9DA82D6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9616D"/>
                </a:solidFill>
              </a:defRPr>
            </a:pPr>
            <a:r>
              <a:rPr sz="1200" b="0">
                <a:solidFill>
                  <a:srgbClr val="59616D"/>
                </a:solidFill>
              </a:rPr>
              <a:t>ID 108 / Data 0x01</a:t>
            </a:r>
          </a:p>
          <a:p>
            <a:pPr algn="l">
              <a:lnSpc>
                <a:spcPct val="110000"/>
              </a:lnSpc>
              <a:buNone/>
              <a:defRPr sz="1200" b="0">
                <a:solidFill>
                  <a:srgbClr val="59616D"/>
                </a:solidFill>
              </a:defRPr>
            </a:pPr>
            <a:r>
              <a:rPr sz="1200" b="0">
                <a:solidFill>
                  <a:srgbClr val="59616D"/>
                </a:solidFill>
              </a:rPr>
              <a:t>emer_brake</a:t>
            </a:r>
          </a:p>
        </p:txBody>
      </p:sp>
      <p:sp>
        <p:nvSpPr>
          <p:cNvPr id="21" name="arrow">
            <a:extLst>
              <a:ext uri="{FF2B5EF4-FFF2-40B4-BE49-F238E27FC236}">
                <a16:creationId xmlns:a16="http://schemas.microsoft.com/office/drawing/2014/main" id="{812D8BB1-835D-4069-BBA4-960943FE00F0}"/>
              </a:ext>
            </a:extLst>
          </p:cNvPr>
          <p:cNvSpPr>
            <a:spLocks noGrp="1"/>
          </p:cNvSpPr>
          <p:nvPr/>
        </p:nvSpPr>
        <p:spPr>
          <a:xfrm>
            <a:off x="8458200" y="3105150"/>
            <a:ext cx="266700" cy="0"/>
          </a:xfrm>
          <a:prstGeom prst="line">
            <a:avLst/>
          </a:prstGeom>
          <a:noFill/>
          <a:ln w="28575">
            <a:solidFill>
              <a:srgbClr val="2674FF"/>
            </a:solidFill>
            <a:prstDash val="solid"/>
          </a:ln>
        </p:spPr>
      </p:sp>
      <p:sp>
        <p:nvSpPr>
          <p:cNvPr id="22" name="화살표: 갈매기형 수장 21">
            <a:extLst>
              <a:ext uri="{FF2B5EF4-FFF2-40B4-BE49-F238E27FC236}">
                <a16:creationId xmlns:a16="http://schemas.microsoft.com/office/drawing/2014/main" id="{70DB6E05-06C8-45AF-8988-DC8202C7FC29}"/>
              </a:ext>
            </a:extLst>
          </p:cNvPr>
          <p:cNvSpPr>
            <a:spLocks noGrp="1"/>
          </p:cNvSpPr>
          <p:nvPr/>
        </p:nvSpPr>
        <p:spPr>
          <a:xfrm>
            <a:off x="8610600" y="3019425"/>
            <a:ext cx="171450" cy="171450"/>
          </a:xfrm>
          <a:prstGeom prst="chevron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1C63BF07-AD10-4407-91BE-DC9007DE65E4}"/>
              </a:ext>
            </a:extLst>
          </p:cNvPr>
          <p:cNvSpPr>
            <a:spLocks noGrp="1"/>
          </p:cNvSpPr>
          <p:nvPr/>
        </p:nvSpPr>
        <p:spPr>
          <a:xfrm>
            <a:off x="8801100" y="1962150"/>
            <a:ext cx="2362200" cy="23050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148A2EA-DE05-4585-9A36-EC6BC62BB010}"/>
              </a:ext>
            </a:extLst>
          </p:cNvPr>
          <p:cNvSpPr>
            <a:spLocks noGrp="1"/>
          </p:cNvSpPr>
          <p:nvPr/>
        </p:nvSpPr>
        <p:spPr>
          <a:xfrm>
            <a:off x="8991600" y="2114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2400" b="1">
                <a:solidFill>
                  <a:srgbClr val="E94D4D"/>
                </a:solidFill>
              </a:defRPr>
            </a:pPr>
            <a:r>
              <a:rPr sz="2400" b="1">
                <a:solidFill>
                  <a:srgbClr val="E94D4D"/>
                </a:solidFill>
              </a:rPr>
              <a:t>4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C2DAA58-8D70-4051-89D9-B0816DA68176}"/>
              </a:ext>
            </a:extLst>
          </p:cNvPr>
          <p:cNvSpPr>
            <a:spLocks noGrp="1"/>
          </p:cNvSpPr>
          <p:nvPr/>
        </p:nvSpPr>
        <p:spPr>
          <a:xfrm>
            <a:off x="9010650" y="27432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안전 상태 전환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EA353543-F5D7-4356-95BD-8BACEE3DC257}"/>
              </a:ext>
            </a:extLst>
          </p:cNvPr>
          <p:cNvSpPr>
            <a:spLocks noGrp="1"/>
          </p:cNvSpPr>
          <p:nvPr/>
        </p:nvSpPr>
        <p:spPr>
          <a:xfrm>
            <a:off x="9010650" y="32194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9616D"/>
                </a:solidFill>
              </a:defRPr>
            </a:pPr>
            <a:r>
              <a:rPr sz="1200" b="0">
                <a:solidFill>
                  <a:srgbClr val="59616D"/>
                </a:solidFill>
              </a:rPr>
              <a:t>Motor Suspend</a:t>
            </a:r>
          </a:p>
          <a:p>
            <a:pPr algn="l">
              <a:lnSpc>
                <a:spcPct val="110000"/>
              </a:lnSpc>
              <a:buNone/>
              <a:defRPr sz="1200" b="0">
                <a:solidFill>
                  <a:srgbClr val="59616D"/>
                </a:solidFill>
              </a:defRPr>
            </a:pPr>
            <a:r>
              <a:rPr sz="1200" b="0">
                <a:solidFill>
                  <a:srgbClr val="59616D"/>
                </a:solidFill>
              </a:rPr>
              <a:t>Signal Resume</a:t>
            </a:r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BD2F6392-06E2-4726-A6D1-697FF59C3009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591800" cy="742950"/>
          </a:xfrm>
          <a:prstGeom prst="rect">
            <a:avLst/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9D5ABEAD-0CB6-4D78-A748-3A4A9853443A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857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70D5F5"/>
                </a:solidFill>
              </a:defRPr>
            </a:pPr>
            <a:r>
              <a:rPr sz="1350" b="1">
                <a:solidFill>
                  <a:srgbClr val="70D5F5"/>
                </a:solidFill>
              </a:rPr>
              <a:t>의미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DB5D4BC4-9625-4633-A7AF-AD2E7B8CD9C7}"/>
              </a:ext>
            </a:extLst>
          </p:cNvPr>
          <p:cNvSpPr>
            <a:spLocks noGrp="1"/>
          </p:cNvSpPr>
          <p:nvPr/>
        </p:nvSpPr>
        <p:spPr>
          <a:xfrm>
            <a:off x="1885950" y="4762500"/>
            <a:ext cx="9048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객체 인식 로그 저장이 끝나기를 기다리지 않고 차량 안전 제어를 실행</a:t>
            </a:r>
          </a:p>
        </p:txBody>
      </p:sp>
    </p:spTree>
    <p:extLst>
      <p:ext uri="{BB962C8B-B14F-4D97-AF65-F5344CB8AC3E}">
        <p14:creationId xmlns:p14="http://schemas.microsoft.com/office/powerpoint/2010/main" val="166353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">
            <a:extLst>
              <a:ext uri="{FF2B5EF4-FFF2-40B4-BE49-F238E27FC236}">
                <a16:creationId xmlns:a16="http://schemas.microsoft.com/office/drawing/2014/main" id="{31A4E4D2-AE70-4E6A-ACF4-60E00946CF1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RESULTS &amp; EXPECTED EFFECTS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5FB5DD2-9790-41F4-BFF3-CE507710285D}"/>
              </a:ext>
            </a:extLst>
          </p:cNvPr>
          <p:cNvSpPr>
            <a:spLocks noGrp="1"/>
          </p:cNvSpPr>
          <p:nvPr/>
        </p:nvSpPr>
        <p:spPr>
          <a:xfrm>
            <a:off x="698500" y="628651"/>
            <a:ext cx="1109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 dirty="0" err="1">
                <a:solidFill>
                  <a:srgbClr val="111318"/>
                </a:solidFill>
              </a:rPr>
              <a:t>결과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분석</a:t>
            </a:r>
            <a:r>
              <a:rPr sz="2850" b="1" dirty="0">
                <a:solidFill>
                  <a:srgbClr val="111318"/>
                </a:solidFill>
              </a:rPr>
              <a:t> 및 </a:t>
            </a:r>
            <a:r>
              <a:rPr sz="2850" b="1" dirty="0" err="1">
                <a:solidFill>
                  <a:srgbClr val="111318"/>
                </a:solidFill>
              </a:rPr>
              <a:t>기대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효과</a:t>
            </a:r>
            <a:r>
              <a:rPr sz="2850" b="1" dirty="0">
                <a:solidFill>
                  <a:srgbClr val="111318"/>
                </a:solidFill>
              </a:rPr>
              <a:t> — </a:t>
            </a:r>
            <a:r>
              <a:rPr sz="2850" b="1" dirty="0" err="1">
                <a:solidFill>
                  <a:srgbClr val="111318"/>
                </a:solidFill>
              </a:rPr>
              <a:t>구동은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차단하고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조향과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경고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기능은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유지</a:t>
            </a:r>
            <a:endParaRPr sz="2850" b="1" dirty="0">
              <a:solidFill>
                <a:srgbClr val="111318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DDE9A15-00D1-4B8D-B466-C8BFA61B4A74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B99AB9B8-3B6E-4F69-9F37-0F2AF17956D7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07</a:t>
            </a:r>
          </a:p>
        </p:txBody>
      </p:sp>
      <p:sp>
        <p:nvSpPr>
          <p:cNvPr id="5" name="node">
            <a:extLst>
              <a:ext uri="{FF2B5EF4-FFF2-40B4-BE49-F238E27FC236}">
                <a16:creationId xmlns:a16="http://schemas.microsoft.com/office/drawing/2014/main" id="{CE103683-69AE-4AB6-B012-A981FB18EF40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34290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6" name="accent">
            <a:extLst>
              <a:ext uri="{FF2B5EF4-FFF2-40B4-BE49-F238E27FC236}">
                <a16:creationId xmlns:a16="http://schemas.microsoft.com/office/drawing/2014/main" id="{2A65A97C-A5EC-4DB5-8888-574DBE2E752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6200" cy="1314450"/>
          </a:xfrm>
          <a:prstGeom prst="rect">
            <a:avLst/>
          </a:prstGeom>
          <a:solidFill>
            <a:srgbClr val="2674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7AF8169-EA41-4A5C-9C98-8353EEE1F836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CAN_DemoTask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91945EB-71E7-444B-8BD0-8595FCABD838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304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무한 루프에서 CAN_DemoReceive() 호출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ID 108 / Data 0x01 직접 판별</a:t>
            </a:r>
          </a:p>
        </p:txBody>
      </p:sp>
      <p:sp>
        <p:nvSpPr>
          <p:cNvPr id="9" name="arrow">
            <a:extLst>
              <a:ext uri="{FF2B5EF4-FFF2-40B4-BE49-F238E27FC236}">
                <a16:creationId xmlns:a16="http://schemas.microsoft.com/office/drawing/2014/main" id="{D29B7F35-3609-471C-A4E0-ED6FB33470D3}"/>
              </a:ext>
            </a:extLst>
          </p:cNvPr>
          <p:cNvSpPr>
            <a:spLocks noGrp="1"/>
          </p:cNvSpPr>
          <p:nvPr/>
        </p:nvSpPr>
        <p:spPr>
          <a:xfrm>
            <a:off x="4114800" y="2609850"/>
            <a:ext cx="571500" cy="0"/>
          </a:xfrm>
          <a:prstGeom prst="line">
            <a:avLst/>
          </a:prstGeom>
          <a:noFill/>
          <a:ln w="28575">
            <a:solidFill>
              <a:srgbClr val="E94D4D"/>
            </a:solidFill>
            <a:prstDash val="solid"/>
          </a:ln>
        </p:spPr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A46891A2-B2F0-4B50-8BA3-B54DDEC2B2BC}"/>
              </a:ext>
            </a:extLst>
          </p:cNvPr>
          <p:cNvSpPr>
            <a:spLocks noGrp="1"/>
          </p:cNvSpPr>
          <p:nvPr/>
        </p:nvSpPr>
        <p:spPr>
          <a:xfrm>
            <a:off x="4572000" y="2524125"/>
            <a:ext cx="171450" cy="171450"/>
          </a:xfrm>
          <a:prstGeom prst="chevron">
            <a:avLst/>
          </a:prstGeom>
          <a:solidFill>
            <a:srgbClr val="E94D4D"/>
          </a:solidFill>
          <a:ln w="0">
            <a:noFill/>
            <a:prstDash val="solid"/>
          </a:ln>
        </p:spPr>
      </p:sp>
      <p:sp>
        <p:nvSpPr>
          <p:cNvPr id="11" name="node">
            <a:extLst>
              <a:ext uri="{FF2B5EF4-FFF2-40B4-BE49-F238E27FC236}">
                <a16:creationId xmlns:a16="http://schemas.microsoft.com/office/drawing/2014/main" id="{C422C387-3B6F-442A-A923-A734D102C2C2}"/>
              </a:ext>
            </a:extLst>
          </p:cNvPr>
          <p:cNvSpPr>
            <a:spLocks noGrp="1"/>
          </p:cNvSpPr>
          <p:nvPr/>
        </p:nvSpPr>
        <p:spPr>
          <a:xfrm>
            <a:off x="4686300" y="1943100"/>
            <a:ext cx="30480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2" name="accent">
            <a:extLst>
              <a:ext uri="{FF2B5EF4-FFF2-40B4-BE49-F238E27FC236}">
                <a16:creationId xmlns:a16="http://schemas.microsoft.com/office/drawing/2014/main" id="{CDFBF534-E30A-414D-B2C6-FD90D7311993}"/>
              </a:ext>
            </a:extLst>
          </p:cNvPr>
          <p:cNvSpPr>
            <a:spLocks noGrp="1"/>
          </p:cNvSpPr>
          <p:nvPr/>
        </p:nvSpPr>
        <p:spPr>
          <a:xfrm>
            <a:off x="4686300" y="1943100"/>
            <a:ext cx="76200" cy="1314450"/>
          </a:xfrm>
          <a:prstGeom prst="rect">
            <a:avLst/>
          </a:prstGeom>
          <a:solidFill>
            <a:srgbClr val="E94D4D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4F47866-F12E-4B08-9073-A53F2A521E5C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MotorSpeedTask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181341C-A3C7-40B0-8E43-77E50598ED83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266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이전 명령에 따라 모터 구동 유지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비상 시 vTaskSuspend()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348757B5-6E9C-4F04-96CF-44E14D0462B3}"/>
              </a:ext>
            </a:extLst>
          </p:cNvPr>
          <p:cNvSpPr>
            <a:spLocks noGrp="1"/>
          </p:cNvSpPr>
          <p:nvPr/>
        </p:nvSpPr>
        <p:spPr>
          <a:xfrm>
            <a:off x="7734300" y="2609850"/>
            <a:ext cx="571500" cy="0"/>
          </a:xfrm>
          <a:prstGeom prst="line">
            <a:avLst/>
          </a:prstGeom>
          <a:noFill/>
          <a:ln w="28575">
            <a:solidFill>
              <a:srgbClr val="E94D4D"/>
            </a:solidFill>
            <a:prstDash val="solid"/>
          </a:ln>
        </p:spPr>
      </p:sp>
      <p:sp>
        <p:nvSpPr>
          <p:cNvPr id="16" name="화살표: 갈매기형 수장 15">
            <a:extLst>
              <a:ext uri="{FF2B5EF4-FFF2-40B4-BE49-F238E27FC236}">
                <a16:creationId xmlns:a16="http://schemas.microsoft.com/office/drawing/2014/main" id="{609605AC-CEB3-4FF8-8D69-A70D234A8C87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171450" cy="171450"/>
          </a:xfrm>
          <a:prstGeom prst="chevron">
            <a:avLst/>
          </a:prstGeom>
          <a:solidFill>
            <a:srgbClr val="E94D4D"/>
          </a:solidFill>
          <a:ln w="0">
            <a:noFill/>
            <a:prstDash val="solid"/>
          </a:ln>
        </p:spPr>
      </p:sp>
      <p:sp>
        <p:nvSpPr>
          <p:cNvPr id="17" name="node">
            <a:extLst>
              <a:ext uri="{FF2B5EF4-FFF2-40B4-BE49-F238E27FC236}">
                <a16:creationId xmlns:a16="http://schemas.microsoft.com/office/drawing/2014/main" id="{AC5606BF-DDFC-4674-8900-95C9461399A0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32004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CDD3"/>
            </a:solidFill>
            <a:prstDash val="solid"/>
          </a:ln>
        </p:spPr>
      </p:sp>
      <p:sp>
        <p:nvSpPr>
          <p:cNvPr id="18" name="accent">
            <a:extLst>
              <a:ext uri="{FF2B5EF4-FFF2-40B4-BE49-F238E27FC236}">
                <a16:creationId xmlns:a16="http://schemas.microsoft.com/office/drawing/2014/main" id="{599BEF42-5052-4A6C-A45B-5464ED9BC495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76200" cy="1314450"/>
          </a:xfrm>
          <a:prstGeom prst="rect">
            <a:avLst/>
          </a:prstGeom>
          <a:solidFill>
            <a:srgbClr val="70D5F5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4570011-7264-4620-AD2E-17B1FBB357FD}"/>
              </a:ext>
            </a:extLst>
          </p:cNvPr>
          <p:cNvSpPr>
            <a:spLocks noGrp="1"/>
          </p:cNvSpPr>
          <p:nvPr/>
        </p:nvSpPr>
        <p:spPr>
          <a:xfrm>
            <a:off x="8534400" y="2076450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EmergencySignalTask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20C9261-F4BA-4D53-8375-FF46CDF6D3B0}"/>
              </a:ext>
            </a:extLst>
          </p:cNvPr>
          <p:cNvSpPr>
            <a:spLocks noGrp="1"/>
          </p:cNvSpPr>
          <p:nvPr/>
        </p:nvSpPr>
        <p:spPr>
          <a:xfrm>
            <a:off x="8534400" y="2400300"/>
            <a:ext cx="281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평상시 Suspended</a:t>
            </a:r>
          </a:p>
          <a:p>
            <a:pPr algn="l">
              <a:lnSpc>
                <a:spcPct val="110000"/>
              </a:lnSpc>
              <a:buNone/>
              <a:defRPr sz="1125" b="0">
                <a:solidFill>
                  <a:srgbClr val="59616D"/>
                </a:solidFill>
              </a:defRPr>
            </a:pPr>
            <a:r>
              <a:rPr sz="1125" b="0">
                <a:solidFill>
                  <a:srgbClr val="59616D"/>
                </a:solidFill>
              </a:rPr>
              <a:t>비상 시 Resume 후 200ms 점멸</a:t>
            </a:r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AE72D2E4-66BD-41C9-9375-0B10BCFD7D6C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0820400" cy="13525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167DB264-B34C-4DA3-B684-7F1547D7E50F}"/>
              </a:ext>
            </a:extLst>
          </p:cNvPr>
          <p:cNvSpPr>
            <a:spLocks noGrp="1"/>
          </p:cNvSpPr>
          <p:nvPr/>
        </p:nvSpPr>
        <p:spPr>
          <a:xfrm>
            <a:off x="933450" y="4000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E94D4D"/>
                </a:solidFill>
              </a:defRPr>
            </a:pPr>
            <a:r>
              <a:rPr sz="1500" b="1">
                <a:solidFill>
                  <a:srgbClr val="E94D4D"/>
                </a:solidFill>
              </a:rPr>
              <a:t>비상 명령 처리 순서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D9B5CC2F-911B-4642-AE08-4ECDDDB2064E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① 방향 제어 GPIO LOW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2FFF3F8D-0790-401F-BE3F-A22974E62569}"/>
              </a:ext>
            </a:extLst>
          </p:cNvPr>
          <p:cNvSpPr>
            <a:spLocks noGrp="1"/>
          </p:cNvSpPr>
          <p:nvPr/>
        </p:nvSpPr>
        <p:spPr>
          <a:xfrm>
            <a:off x="3829050" y="44577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② MotorSpeedTask Suspend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818AD161-5E14-4D22-B0F8-B165E6B58C5B}"/>
              </a:ext>
            </a:extLst>
          </p:cNvPr>
          <p:cNvSpPr>
            <a:spLocks noGrp="1"/>
          </p:cNvSpPr>
          <p:nvPr/>
        </p:nvSpPr>
        <p:spPr>
          <a:xfrm>
            <a:off x="7277100" y="4457700"/>
            <a:ext cx="3752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③ EmergencySignalTask Resume</a:t>
            </a:r>
          </a:p>
        </p:txBody>
      </p:sp>
      <p:sp>
        <p:nvSpPr>
          <p:cNvPr id="26" name="bottom-note">
            <a:extLst>
              <a:ext uri="{FF2B5EF4-FFF2-40B4-BE49-F238E27FC236}">
                <a16:creationId xmlns:a16="http://schemas.microsoft.com/office/drawing/2014/main" id="{D6A07E57-CAF3-46EC-A410-0456D43D6E60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0">
                <a:solidFill>
                  <a:srgbClr val="59616D"/>
                </a:solidFill>
              </a:defRPr>
            </a:pPr>
            <a:r>
              <a:rPr sz="1050" b="0" dirty="0" err="1">
                <a:solidFill>
                  <a:srgbClr val="59616D"/>
                </a:solidFill>
              </a:rPr>
              <a:t>구동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명령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재적용을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막으면서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조향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제어를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유지해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운전자가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안전한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방향으로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이동</a:t>
            </a:r>
            <a:r>
              <a:rPr sz="1050" b="0" dirty="0">
                <a:solidFill>
                  <a:srgbClr val="59616D"/>
                </a:solidFill>
              </a:rPr>
              <a:t> </a:t>
            </a:r>
            <a:r>
              <a:rPr sz="1050" b="0" dirty="0" err="1">
                <a:solidFill>
                  <a:srgbClr val="59616D"/>
                </a:solidFill>
              </a:rPr>
              <a:t>가능</a:t>
            </a:r>
            <a:endParaRPr sz="1050" b="0" dirty="0">
              <a:solidFill>
                <a:srgbClr val="5961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0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">
            <a:extLst>
              <a:ext uri="{FF2B5EF4-FFF2-40B4-BE49-F238E27FC236}">
                <a16:creationId xmlns:a16="http://schemas.microsoft.com/office/drawing/2014/main" id="{BD32253F-FB3A-46D7-B78B-BDB555E59F1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FUTURE RESEARCH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D2C9964-4D9E-4341-B2F0-4AAD1A7B363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 dirty="0" err="1">
                <a:solidFill>
                  <a:srgbClr val="111318"/>
                </a:solidFill>
              </a:rPr>
              <a:t>향후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연구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과제</a:t>
            </a:r>
            <a:r>
              <a:rPr sz="2850" b="1" dirty="0">
                <a:solidFill>
                  <a:srgbClr val="111318"/>
                </a:solidFill>
              </a:rPr>
              <a:t> — </a:t>
            </a:r>
            <a:r>
              <a:rPr sz="2850" b="1" dirty="0" err="1">
                <a:solidFill>
                  <a:srgbClr val="111318"/>
                </a:solidFill>
              </a:rPr>
              <a:t>응답성·복구성·모듈성을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중심으로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구조를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고도화</a:t>
            </a:r>
            <a:endParaRPr sz="2850" b="1" dirty="0">
              <a:solidFill>
                <a:srgbClr val="111318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7535B86D-D260-4C82-98E8-71F2DDA8B290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60D90835-9B1D-4D5F-817E-6AB00D38B8D5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08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1CA42E49-A882-4FC8-9212-75FEA02F9F1E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276600" cy="302895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247FF91-8BC5-444B-8D35-B2C53CE99F3B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2674FF"/>
                </a:solidFill>
              </a:defRPr>
            </a:pPr>
            <a:r>
              <a:rPr sz="1950" b="1">
                <a:solidFill>
                  <a:srgbClr val="2674FF"/>
                </a:solidFill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88DB86D-7ADB-4D59-93E4-4F832FC7503A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CAN 큐 처리 효율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FB1619A-2DE8-4AED-8C0F-AE2C86E6FDF3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59616D"/>
                </a:solidFill>
              </a:defRPr>
            </a:pPr>
            <a:r>
              <a:rPr sz="1050" b="1">
                <a:solidFill>
                  <a:srgbClr val="59616D"/>
                </a:solidFill>
              </a:rPr>
              <a:t>현재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F053DFA-FAFE-470E-8733-D7760D208429}"/>
              </a:ext>
            </a:extLst>
          </p:cNvPr>
          <p:cNvSpPr>
            <a:spLocks noGrp="1"/>
          </p:cNvSpPr>
          <p:nvPr/>
        </p:nvSpPr>
        <p:spPr>
          <a:xfrm>
            <a:off x="1504950" y="318135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대기 시간 없는 폴링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71A70816-0C6B-4DE5-BD8A-90D70EF87F29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28575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43E25B9-844C-47DB-A7CE-8C7DC50BA8E6}"/>
              </a:ext>
            </a:extLst>
          </p:cNvPr>
          <p:cNvSpPr>
            <a:spLocks noGrp="1"/>
          </p:cNvSpPr>
          <p:nvPr/>
        </p:nvSpPr>
        <p:spPr>
          <a:xfrm>
            <a:off x="895350" y="39243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674FF"/>
                </a:solidFill>
              </a:defRPr>
            </a:pPr>
            <a:r>
              <a:rPr sz="1050" b="1">
                <a:solidFill>
                  <a:srgbClr val="2674FF"/>
                </a:solidFill>
              </a:rPr>
              <a:t>방향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95EF931-50BD-40B8-8CA5-9B1636ABE380}"/>
              </a:ext>
            </a:extLst>
          </p:cNvPr>
          <p:cNvSpPr>
            <a:spLocks noGrp="1"/>
          </p:cNvSpPr>
          <p:nvPr/>
        </p:nvSpPr>
        <p:spPr>
          <a:xfrm>
            <a:off x="1381125" y="3853873"/>
            <a:ext cx="245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111318"/>
                </a:solidFill>
              </a:defRPr>
            </a:pPr>
            <a:r>
              <a:rPr sz="1275" b="1" dirty="0">
                <a:solidFill>
                  <a:srgbClr val="111318"/>
                </a:solidFill>
              </a:rPr>
              <a:t>Blocking </a:t>
            </a:r>
            <a:r>
              <a:rPr sz="1275" b="1" dirty="0" err="1">
                <a:solidFill>
                  <a:srgbClr val="111318"/>
                </a:solidFill>
              </a:rPr>
              <a:t>queue와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우선순위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적용</a:t>
            </a:r>
            <a:endParaRPr sz="1275" b="1" dirty="0">
              <a:solidFill>
                <a:srgbClr val="111318"/>
              </a:solidFill>
            </a:endParaRP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657D2C70-3616-4AF3-9A6F-07A98E893453}"/>
              </a:ext>
            </a:extLst>
          </p:cNvPr>
          <p:cNvSpPr>
            <a:spLocks noGrp="1"/>
          </p:cNvSpPr>
          <p:nvPr/>
        </p:nvSpPr>
        <p:spPr>
          <a:xfrm>
            <a:off x="4267200" y="1924050"/>
            <a:ext cx="3276600" cy="3028950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987496A-7B88-4675-A6D7-4C269E749E56}"/>
              </a:ext>
            </a:extLst>
          </p:cNvPr>
          <p:cNvSpPr>
            <a:spLocks noGrp="1"/>
          </p:cNvSpPr>
          <p:nvPr/>
        </p:nvSpPr>
        <p:spPr>
          <a:xfrm>
            <a:off x="4476750" y="21145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2674FF"/>
                </a:solidFill>
              </a:defRPr>
            </a:pPr>
            <a:r>
              <a:rPr sz="1950" b="1">
                <a:solidFill>
                  <a:srgbClr val="2674FF"/>
                </a:solidFill>
              </a:rPr>
              <a:t>02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E2BAA15-228C-4EC8-8CCF-56501EB9E3EA}"/>
              </a:ext>
            </a:extLst>
          </p:cNvPr>
          <p:cNvSpPr>
            <a:spLocks noGrp="1"/>
          </p:cNvSpPr>
          <p:nvPr/>
        </p:nvSpPr>
        <p:spPr>
          <a:xfrm>
            <a:off x="4476750" y="2647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비상 해제·복구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9DF0AA8-C7DB-4C49-A629-59A974B9DFE4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59616D"/>
                </a:solidFill>
              </a:defRPr>
            </a:pPr>
            <a:r>
              <a:rPr sz="1050" b="1">
                <a:solidFill>
                  <a:srgbClr val="59616D"/>
                </a:solidFill>
              </a:rPr>
              <a:t>현재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3DD1A2C-E67C-4F04-AE74-3665A46314DF}"/>
              </a:ext>
            </a:extLst>
          </p:cNvPr>
          <p:cNvSpPr>
            <a:spLocks noGrp="1"/>
          </p:cNvSpPr>
          <p:nvPr/>
        </p:nvSpPr>
        <p:spPr>
          <a:xfrm>
            <a:off x="5086350" y="3181350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제동 상태 유지 중심</a:t>
            </a: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953E852-4A92-4D28-BCF9-616662DA7B16}"/>
              </a:ext>
            </a:extLst>
          </p:cNvPr>
          <p:cNvSpPr>
            <a:spLocks noGrp="1"/>
          </p:cNvSpPr>
          <p:nvPr/>
        </p:nvSpPr>
        <p:spPr>
          <a:xfrm>
            <a:off x="4476750" y="3695700"/>
            <a:ext cx="28575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317A9E4-A61F-406E-A516-82B870ED2F80}"/>
              </a:ext>
            </a:extLst>
          </p:cNvPr>
          <p:cNvSpPr>
            <a:spLocks noGrp="1"/>
          </p:cNvSpPr>
          <p:nvPr/>
        </p:nvSpPr>
        <p:spPr>
          <a:xfrm>
            <a:off x="4476750" y="39243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674FF"/>
                </a:solidFill>
              </a:defRPr>
            </a:pPr>
            <a:r>
              <a:rPr sz="1050" b="1">
                <a:solidFill>
                  <a:srgbClr val="2674FF"/>
                </a:solidFill>
              </a:rPr>
              <a:t>방향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DA2E11F8-16AD-4EBF-8E7B-987EE0A66312}"/>
              </a:ext>
            </a:extLst>
          </p:cNvPr>
          <p:cNvSpPr>
            <a:spLocks noGrp="1"/>
          </p:cNvSpPr>
          <p:nvPr/>
        </p:nvSpPr>
        <p:spPr>
          <a:xfrm>
            <a:off x="5086350" y="3848100"/>
            <a:ext cx="2330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111318"/>
                </a:solidFill>
              </a:defRPr>
            </a:pPr>
            <a:r>
              <a:rPr sz="1275" b="1" dirty="0" err="1">
                <a:solidFill>
                  <a:srgbClr val="111318"/>
                </a:solidFill>
              </a:rPr>
              <a:t>안전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조건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기반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상태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머신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구현</a:t>
            </a:r>
            <a:endParaRPr sz="1275" b="1" dirty="0">
              <a:solidFill>
                <a:srgbClr val="111318"/>
              </a:solidFill>
            </a:endParaRPr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479D2E95-2330-48EF-BA9D-DFC4A47CD763}"/>
              </a:ext>
            </a:extLst>
          </p:cNvPr>
          <p:cNvSpPr>
            <a:spLocks noGrp="1"/>
          </p:cNvSpPr>
          <p:nvPr/>
        </p:nvSpPr>
        <p:spPr>
          <a:xfrm>
            <a:off x="7848600" y="1924050"/>
            <a:ext cx="3276600" cy="30289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90DB8310-447F-456B-B3E0-7FE5C7E4DBE3}"/>
              </a:ext>
            </a:extLst>
          </p:cNvPr>
          <p:cNvSpPr>
            <a:spLocks noGrp="1"/>
          </p:cNvSpPr>
          <p:nvPr/>
        </p:nvSpPr>
        <p:spPr>
          <a:xfrm>
            <a:off x="8058150" y="21145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E94D4D"/>
                </a:solidFill>
              </a:defRPr>
            </a:pPr>
            <a:r>
              <a:rPr sz="1950" b="1">
                <a:solidFill>
                  <a:srgbClr val="E94D4D"/>
                </a:solidFill>
              </a:rPr>
              <a:t>03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A3CE48E5-6B9D-4602-A680-23276BE4090C}"/>
              </a:ext>
            </a:extLst>
          </p:cNvPr>
          <p:cNvSpPr>
            <a:spLocks noGrp="1"/>
          </p:cNvSpPr>
          <p:nvPr/>
        </p:nvSpPr>
        <p:spPr>
          <a:xfrm>
            <a:off x="8058150" y="2647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안전 제어 모듈화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100E8F84-3D68-40EA-96CF-DDB6C1247212}"/>
              </a:ext>
            </a:extLst>
          </p:cNvPr>
          <p:cNvSpPr>
            <a:spLocks noGrp="1"/>
          </p:cNvSpPr>
          <p:nvPr/>
        </p:nvSpPr>
        <p:spPr>
          <a:xfrm>
            <a:off x="8058150" y="3238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59616D"/>
                </a:solidFill>
              </a:defRPr>
            </a:pPr>
            <a:r>
              <a:rPr sz="1050" b="1">
                <a:solidFill>
                  <a:srgbClr val="59616D"/>
                </a:solidFill>
              </a:rPr>
              <a:t>현재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450716F6-879C-4154-868B-8E6572E83905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111318"/>
                </a:solidFill>
              </a:defRPr>
            </a:pPr>
            <a:r>
              <a:rPr sz="1275" b="1" dirty="0">
                <a:solidFill>
                  <a:srgbClr val="111318"/>
                </a:solidFill>
              </a:rPr>
              <a:t>CAN </a:t>
            </a:r>
            <a:r>
              <a:rPr sz="1275" b="1" dirty="0" err="1">
                <a:solidFill>
                  <a:srgbClr val="111318"/>
                </a:solidFill>
              </a:rPr>
              <a:t>함수에서</a:t>
            </a:r>
            <a:r>
              <a:rPr sz="1275" b="1" dirty="0">
                <a:solidFill>
                  <a:srgbClr val="111318"/>
                </a:solidFill>
              </a:rPr>
              <a:t> GPIO </a:t>
            </a:r>
            <a:r>
              <a:rPr sz="1275" b="1" dirty="0" err="1">
                <a:solidFill>
                  <a:srgbClr val="111318"/>
                </a:solidFill>
              </a:rPr>
              <a:t>직접</a:t>
            </a:r>
            <a:r>
              <a:rPr sz="1275" b="1" dirty="0">
                <a:solidFill>
                  <a:srgbClr val="111318"/>
                </a:solidFill>
              </a:rPr>
              <a:t> </a:t>
            </a:r>
            <a:r>
              <a:rPr sz="1275" b="1" dirty="0" err="1">
                <a:solidFill>
                  <a:srgbClr val="111318"/>
                </a:solidFill>
              </a:rPr>
              <a:t>제어</a:t>
            </a:r>
            <a:endParaRPr sz="1275" b="1" dirty="0">
              <a:solidFill>
                <a:srgbClr val="111318"/>
              </a:solidFill>
            </a:endParaRPr>
          </a:p>
        </p:txBody>
      </p:sp>
      <p:sp>
        <p:nvSpPr>
          <p:cNvPr id="26" name="line">
            <a:extLst>
              <a:ext uri="{FF2B5EF4-FFF2-40B4-BE49-F238E27FC236}">
                <a16:creationId xmlns:a16="http://schemas.microsoft.com/office/drawing/2014/main" id="{B43F92B9-F5FB-47E0-96FF-89B68C32C36E}"/>
              </a:ext>
            </a:extLst>
          </p:cNvPr>
          <p:cNvSpPr>
            <a:spLocks noGrp="1"/>
          </p:cNvSpPr>
          <p:nvPr/>
        </p:nvSpPr>
        <p:spPr>
          <a:xfrm>
            <a:off x="8058150" y="3695700"/>
            <a:ext cx="28575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B5722770-8823-44B0-A21C-4838646EE1DE}"/>
              </a:ext>
            </a:extLst>
          </p:cNvPr>
          <p:cNvSpPr>
            <a:spLocks noGrp="1"/>
          </p:cNvSpPr>
          <p:nvPr/>
        </p:nvSpPr>
        <p:spPr>
          <a:xfrm>
            <a:off x="8058150" y="39243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674FF"/>
                </a:solidFill>
              </a:defRPr>
            </a:pPr>
            <a:r>
              <a:rPr sz="1050" b="1">
                <a:solidFill>
                  <a:srgbClr val="2674FF"/>
                </a:solidFill>
              </a:rPr>
              <a:t>방향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474370AB-2A22-4CFC-BBB2-0C0BC8024B62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220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EmergencyBrake 함수 분리</a:t>
            </a:r>
          </a:p>
        </p:txBody>
      </p:sp>
      <p:sp>
        <p:nvSpPr>
          <p:cNvPr id="29" name="bottom-note">
            <a:extLst>
              <a:ext uri="{FF2B5EF4-FFF2-40B4-BE49-F238E27FC236}">
                <a16:creationId xmlns:a16="http://schemas.microsoft.com/office/drawing/2014/main" id="{07627BFA-E229-4382-80FE-EC1456F28EBB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050" b="0">
                <a:solidFill>
                  <a:srgbClr val="59616D"/>
                </a:solidFill>
              </a:defRPr>
            </a:pPr>
            <a:r>
              <a:rPr sz="1050" b="0">
                <a:solidFill>
                  <a:srgbClr val="59616D"/>
                </a:solidFill>
              </a:rPr>
              <a:t>정량 응답시간·정지거리 측정과 함께 반복 검증해 안전 제어의 신뢰성을 높일 계획</a:t>
            </a:r>
          </a:p>
        </p:txBody>
      </p:sp>
    </p:spTree>
    <p:extLst>
      <p:ext uri="{BB962C8B-B14F-4D97-AF65-F5344CB8AC3E}">
        <p14:creationId xmlns:p14="http://schemas.microsoft.com/office/powerpoint/2010/main" val="1202499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42FB7BF9-E548-45D1-B334-3A466593BFB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>
                <a:solidFill>
                  <a:srgbClr val="2674FF"/>
                </a:solidFill>
              </a:rPr>
              <a:t>PROJECT REFLECTION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7956FF4-BAE0-492D-8D4B-5B405D992F8C}"/>
              </a:ext>
            </a:extLst>
          </p:cNvPr>
          <p:cNvSpPr>
            <a:spLocks noGrp="1"/>
          </p:cNvSpPr>
          <p:nvPr/>
        </p:nvSpPr>
        <p:spPr>
          <a:xfrm>
            <a:off x="574964" y="647700"/>
            <a:ext cx="11201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sz="2850" b="1" dirty="0" err="1">
                <a:solidFill>
                  <a:srgbClr val="111318"/>
                </a:solidFill>
              </a:rPr>
              <a:t>프로젝트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수행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후기</a:t>
            </a:r>
            <a:r>
              <a:rPr sz="2850" b="1" dirty="0">
                <a:solidFill>
                  <a:srgbClr val="111318"/>
                </a:solidFill>
              </a:rPr>
              <a:t> — </a:t>
            </a:r>
            <a:r>
              <a:rPr sz="2850" b="1" dirty="0" err="1">
                <a:solidFill>
                  <a:srgbClr val="111318"/>
                </a:solidFill>
              </a:rPr>
              <a:t>기능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구현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과정에서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시스템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관점의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설계를</a:t>
            </a:r>
            <a:r>
              <a:rPr sz="2850" b="1" dirty="0">
                <a:solidFill>
                  <a:srgbClr val="111318"/>
                </a:solidFill>
              </a:rPr>
              <a:t> </a:t>
            </a:r>
            <a:r>
              <a:rPr sz="2850" b="1" dirty="0" err="1">
                <a:solidFill>
                  <a:srgbClr val="111318"/>
                </a:solidFill>
              </a:rPr>
              <a:t>배움</a:t>
            </a:r>
            <a:endParaRPr sz="2850" b="1" dirty="0">
              <a:solidFill>
                <a:srgbClr val="111318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D104690C-E6AD-4FCC-AAAC-C8DF45A4C0A5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D6F49C58-6651-45F2-A4D5-F44A6AF8754A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>
                <a:solidFill>
                  <a:srgbClr val="59616D"/>
                </a:solidFill>
              </a:rPr>
              <a:t>09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7252C45-0A43-41C5-8890-EC19A97C9FD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674FF"/>
                </a:solidFill>
              </a:defRPr>
            </a:pPr>
            <a:r>
              <a:rPr sz="1650" b="1">
                <a:solidFill>
                  <a:srgbClr val="2674FF"/>
                </a:solidFill>
              </a:rPr>
              <a:t>기술적으로 배운 점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457DD26E-4366-41A2-A05C-55127C446119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3048000" cy="0"/>
          </a:xfrm>
          <a:prstGeom prst="line">
            <a:avLst/>
          </a:prstGeom>
          <a:noFill/>
          <a:ln w="38100">
            <a:solidFill>
              <a:srgbClr val="2674FF"/>
            </a:solidFill>
            <a:prstDash val="solid"/>
          </a:ln>
        </p:spPr>
      </p:sp>
      <p:sp>
        <p:nvSpPr>
          <p:cNvPr id="7" name="bullet">
            <a:extLst>
              <a:ext uri="{FF2B5EF4-FFF2-40B4-BE49-F238E27FC236}">
                <a16:creationId xmlns:a16="http://schemas.microsoft.com/office/drawing/2014/main" id="{F1BBE309-D0DA-436E-9C7B-BA8F1BA3F441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이기종 보드 역할 분리</a:t>
            </a:r>
          </a:p>
        </p:txBody>
      </p:sp>
      <p:sp>
        <p:nvSpPr>
          <p:cNvPr id="8" name="bullet">
            <a:extLst>
              <a:ext uri="{FF2B5EF4-FFF2-40B4-BE49-F238E27FC236}">
                <a16:creationId xmlns:a16="http://schemas.microsoft.com/office/drawing/2014/main" id="{D10E5A30-D04E-47AC-B25C-DBA9CD164A97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Ethernet·CAN 연동</a:t>
            </a:r>
          </a:p>
        </p:txBody>
      </p:sp>
      <p:sp>
        <p:nvSpPr>
          <p:cNvPr id="9" name="bullet">
            <a:extLst>
              <a:ext uri="{FF2B5EF4-FFF2-40B4-BE49-F238E27FC236}">
                <a16:creationId xmlns:a16="http://schemas.microsoft.com/office/drawing/2014/main" id="{A14676DC-BA26-498A-977C-626CCD9A19B1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FreeRTOS 상태 전환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E09E78D-8BA7-4575-B772-C45D673C6150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674FF"/>
                </a:solidFill>
              </a:defRPr>
            </a:pPr>
            <a:r>
              <a:rPr sz="1650" b="1">
                <a:solidFill>
                  <a:srgbClr val="2674FF"/>
                </a:solidFill>
              </a:rPr>
              <a:t>문제 해결 경험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AE928079-6498-4CE6-897D-84063EF23C72}"/>
              </a:ext>
            </a:extLst>
          </p:cNvPr>
          <p:cNvSpPr>
            <a:spLocks noGrp="1"/>
          </p:cNvSpPr>
          <p:nvPr/>
        </p:nvSpPr>
        <p:spPr>
          <a:xfrm>
            <a:off x="4267200" y="2247900"/>
            <a:ext cx="3048000" cy="0"/>
          </a:xfrm>
          <a:prstGeom prst="line">
            <a:avLst/>
          </a:prstGeom>
          <a:noFill/>
          <a:ln w="38100">
            <a:solidFill>
              <a:srgbClr val="2674FF"/>
            </a:solidFill>
            <a:prstDash val="solid"/>
          </a:ln>
        </p:spPr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2B121C4A-21E2-4EC8-97DF-6F07C5C55BE9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nc 병렬 실행으로 지연 개선</a:t>
            </a:r>
          </a:p>
        </p:txBody>
      </p:sp>
      <p:sp>
        <p:nvSpPr>
          <p:cNvPr id="13" name="bullet">
            <a:extLst>
              <a:ext uri="{FF2B5EF4-FFF2-40B4-BE49-F238E27FC236}">
                <a16:creationId xmlns:a16="http://schemas.microsoft.com/office/drawing/2014/main" id="{BB333C2F-D239-4FD3-BB2D-5B57DF5DD76A}"/>
              </a:ext>
            </a:extLst>
          </p:cNvPr>
          <p:cNvSpPr>
            <a:spLocks noGrp="1"/>
          </p:cNvSpPr>
          <p:nvPr/>
        </p:nvSpPr>
        <p:spPr>
          <a:xfrm>
            <a:off x="4267200" y="31813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출력 변경과 태스크 중단 결합</a:t>
            </a:r>
          </a:p>
        </p:txBody>
      </p:sp>
      <p:sp>
        <p:nvSpPr>
          <p:cNvPr id="14" name="bullet">
            <a:extLst>
              <a:ext uri="{FF2B5EF4-FFF2-40B4-BE49-F238E27FC236}">
                <a16:creationId xmlns:a16="http://schemas.microsoft.com/office/drawing/2014/main" id="{7561BB1E-1FF9-4CFA-9017-6FA6EBBC6586}"/>
              </a:ext>
            </a:extLst>
          </p:cNvPr>
          <p:cNvSpPr>
            <a:spLocks noGrp="1"/>
          </p:cNvSpPr>
          <p:nvPr/>
        </p:nvSpPr>
        <p:spPr>
          <a:xfrm>
            <a:off x="4267200" y="37909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조향 유지로 안전성 보완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FE8B74E-5604-4E58-A7CA-35EB1D5A5991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E94D4D"/>
                </a:solidFill>
              </a:defRPr>
            </a:pPr>
            <a:r>
              <a:rPr sz="1650" b="1">
                <a:solidFill>
                  <a:srgbClr val="E94D4D"/>
                </a:solidFill>
              </a:rPr>
              <a:t>아쉬움과 성장 방향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5F53ABC8-1CC0-444D-A14C-02E1585B3FAC}"/>
              </a:ext>
            </a:extLst>
          </p:cNvPr>
          <p:cNvSpPr>
            <a:spLocks noGrp="1"/>
          </p:cNvSpPr>
          <p:nvPr/>
        </p:nvSpPr>
        <p:spPr>
          <a:xfrm>
            <a:off x="7848600" y="2247900"/>
            <a:ext cx="3048000" cy="0"/>
          </a:xfrm>
          <a:prstGeom prst="line">
            <a:avLst/>
          </a:prstGeom>
          <a:noFill/>
          <a:ln w="38100">
            <a:solidFill>
              <a:srgbClr val="E94D4D"/>
            </a:solidFill>
            <a:prstDash val="solid"/>
          </a:ln>
        </p:spPr>
      </p:sp>
      <p:sp>
        <p:nvSpPr>
          <p:cNvPr id="17" name="bullet">
            <a:extLst>
              <a:ext uri="{FF2B5EF4-FFF2-40B4-BE49-F238E27FC236}">
                <a16:creationId xmlns:a16="http://schemas.microsoft.com/office/drawing/2014/main" id="{C2A999C3-131C-4E0D-A3B9-1C03B9BBC0F7}"/>
              </a:ext>
            </a:extLst>
          </p:cNvPr>
          <p:cNvSpPr>
            <a:spLocks noGrp="1"/>
          </p:cNvSpPr>
          <p:nvPr/>
        </p:nvSpPr>
        <p:spPr>
          <a:xfrm>
            <a:off x="7848600" y="25717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제어 로직 모듈화 필요</a:t>
            </a:r>
          </a:p>
        </p:txBody>
      </p:sp>
      <p:sp>
        <p:nvSpPr>
          <p:cNvPr id="18" name="bullet">
            <a:extLst>
              <a:ext uri="{FF2B5EF4-FFF2-40B4-BE49-F238E27FC236}">
                <a16:creationId xmlns:a16="http://schemas.microsoft.com/office/drawing/2014/main" id="{67FEBD05-CE9A-4A81-9FDE-AD5A13447C9E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정량 성능 측정 필요</a:t>
            </a:r>
          </a:p>
        </p:txBody>
      </p:sp>
      <p:sp>
        <p:nvSpPr>
          <p:cNvPr id="19" name="bullet">
            <a:extLst>
              <a:ext uri="{FF2B5EF4-FFF2-40B4-BE49-F238E27FC236}">
                <a16:creationId xmlns:a16="http://schemas.microsoft.com/office/drawing/2014/main" id="{070C955C-A915-41A1-AF52-82E8DB0055F3}"/>
              </a:ext>
            </a:extLst>
          </p:cNvPr>
          <p:cNvSpPr>
            <a:spLocks noGrp="1"/>
          </p:cNvSpPr>
          <p:nvPr/>
        </p:nvSpPr>
        <p:spPr>
          <a:xfrm>
            <a:off x="7848600" y="37909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•  복구 상태 설계 필요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E6D826CE-6A87-4DDF-9C39-F923688D437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744200" cy="742950"/>
          </a:xfrm>
          <a:prstGeom prst="rect">
            <a:avLst/>
          </a:prstGeom>
          <a:solidFill>
            <a:srgbClr val="171B22"/>
          </a:solidFill>
          <a:ln w="0">
            <a:noFill/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061794A-0516-414B-B496-95661DBCECC5}"/>
              </a:ext>
            </a:extLst>
          </p:cNvPr>
          <p:cNvSpPr>
            <a:spLocks noGrp="1"/>
          </p:cNvSpPr>
          <p:nvPr/>
        </p:nvSpPr>
        <p:spPr>
          <a:xfrm>
            <a:off x="895350" y="4953000"/>
            <a:ext cx="87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70D5F5"/>
                </a:solidFill>
              </a:defRPr>
            </a:pPr>
            <a:r>
              <a:rPr sz="1350" b="1">
                <a:solidFill>
                  <a:srgbClr val="70D5F5"/>
                </a:solidFill>
              </a:rPr>
              <a:t>후기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1EF346E-875D-49A2-B673-71556F46A3B7}"/>
              </a:ext>
            </a:extLst>
          </p:cNvPr>
          <p:cNvSpPr>
            <a:spLocks noGrp="1"/>
          </p:cNvSpPr>
          <p:nvPr/>
        </p:nvSpPr>
        <p:spPr>
          <a:xfrm>
            <a:off x="1885950" y="4953000"/>
            <a:ext cx="94107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 dirty="0" err="1">
                <a:solidFill>
                  <a:srgbClr val="FFFFFF"/>
                </a:solidFill>
              </a:rPr>
              <a:t>원인을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분석하고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다음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설계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과제로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연결하는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과정에서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임베디드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시스템의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전체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sz="1800" b="1" dirty="0" err="1">
                <a:solidFill>
                  <a:srgbClr val="FFFFFF"/>
                </a:solidFill>
              </a:rPr>
              <a:t>흐름을</a:t>
            </a:r>
            <a:r>
              <a:rPr sz="1800" b="1" dirty="0">
                <a:solidFill>
                  <a:srgbClr val="FFFFFF"/>
                </a:solidFill>
              </a:rPr>
              <a:t> 이</a:t>
            </a:r>
            <a:r>
              <a:rPr lang="ko-KR" altLang="en-US" sz="1800" b="1" dirty="0">
                <a:solidFill>
                  <a:srgbClr val="FFFFFF"/>
                </a:solidFill>
              </a:rPr>
              <a:t>해</a:t>
            </a:r>
            <a:endParaRPr sz="1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374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720F-BBA1-1D86-1272-27B25B09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325EA28B-3C96-08D6-001C-451136B9513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975" b="1">
                <a:solidFill>
                  <a:srgbClr val="2674FF"/>
                </a:solidFill>
              </a:defRPr>
            </a:pPr>
            <a:r>
              <a:rPr sz="975" b="1" dirty="0">
                <a:solidFill>
                  <a:srgbClr val="2674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REFLECTION &amp; NEXT STEPS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122B1E1-64B9-BBC7-E342-751C9DAD05F9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111318"/>
                </a:solidFill>
              </a:defRPr>
            </a:pPr>
            <a:r>
              <a:rPr lang="ko-KR" altLang="en-US" sz="2850" b="1" dirty="0">
                <a:solidFill>
                  <a:srgbClr val="111318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데모 영상</a:t>
            </a:r>
            <a:endParaRPr sz="2850" b="1" dirty="0">
              <a:solidFill>
                <a:srgbClr val="11131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F46B1779-6139-AB69-AE1C-6B510B48DA5D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A82489FE-3689-3824-8AF6-0081CB0FF7BB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9616D"/>
                </a:solidFill>
              </a:defRPr>
            </a:pPr>
            <a:r>
              <a:rPr sz="900" b="0" dirty="0">
                <a:solidFill>
                  <a:srgbClr val="59616D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09</a:t>
            </a:r>
          </a:p>
        </p:txBody>
      </p:sp>
      <p:sp>
        <p:nvSpPr>
          <p:cNvPr id="25" name="slide-title">
            <a:extLst>
              <a:ext uri="{FF2B5EF4-FFF2-40B4-BE49-F238E27FC236}">
                <a16:creationId xmlns:a16="http://schemas.microsoft.com/office/drawing/2014/main" id="{A2035AC3-7B76-EBE5-FBDF-24C7D6A99E14}"/>
              </a:ext>
            </a:extLst>
          </p:cNvPr>
          <p:cNvSpPr>
            <a:spLocks noGrp="1"/>
          </p:cNvSpPr>
          <p:nvPr/>
        </p:nvSpPr>
        <p:spPr>
          <a:xfrm>
            <a:off x="624609" y="3429000"/>
            <a:ext cx="10942782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11318"/>
                </a:solidFill>
              </a:defRPr>
            </a:pPr>
            <a:r>
              <a:rPr lang="ko-KR" altLang="ko-KR" sz="2850" u="sng" dirty="0">
                <a:solidFill>
                  <a:srgbClr val="111318"/>
                </a:solidFill>
                <a:latin typeface="굴림" panose="020B0600000101010101" pitchFamily="50" charset="-127"/>
                <a:ea typeface="굴림" panose="020B0600000101010101" pitchFamily="50" charset="-127"/>
                <a:hlinkClick r:id="rId3"/>
              </a:rPr>
              <a:t>https://youtube.com/shorts/VOmGcFecgCk?si=5pFUwqZZHkTiRMWm</a:t>
            </a:r>
            <a:endParaRPr sz="2850" b="1" dirty="0">
              <a:solidFill>
                <a:srgbClr val="111318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2143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DocSecurity>0</DocSecurity>
  <PresentationFormat>와이드스크린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굴림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2026-09-03T03:48:05Z</dcterms:created>
  <dcterms:modified xsi:type="dcterms:W3CDTF">2026-09-03T03:56:56Z</dcterms:modified>
</cp:coreProperties>
</file>
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1097280"/>
            <a:ext cx="109728" cy="3200400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32588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2742"/>
                </a:solidFill>
                <a:latin typeface="Malgun Gothic"/>
              </a:defRPr>
            </a:pPr>
            <a:r>
              <a:t>차량 비상제동 시스템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4688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69737D"/>
                </a:solidFill>
                <a:latin typeface="Malgun Gothic"/>
              </a:defRPr>
            </a:pPr>
            <a:r>
              <a:t>브레이크 페달 오인 사고를 방지하는 기능을 구현한 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50749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A34"/>
                </a:solidFill>
                <a:latin typeface="Malgun Gothic"/>
              </a:defRPr>
            </a:pPr>
            <a:r>
              <a:t>김도훈</a:t>
            </a:r>
          </a:p>
          <a:p>
            <a:pPr>
              <a:defRPr sz="1200">
                <a:solidFill>
                  <a:srgbClr val="69737D"/>
                </a:solidFill>
                <a:latin typeface="Arial"/>
              </a:defRPr>
            </a:pPr>
            <a:r>
              <a:t>kdhkdh98@naver.com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2"/>
                </a:solidFill>
                <a:latin typeface="Malgun Gothic"/>
              </a:defRPr>
            </a:pPr>
            <a:r>
              <a:t>프로젝트 배경 및 목표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257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73152" cy="434340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32A34"/>
                </a:solidFill>
                <a:latin typeface="Malgun Gothic"/>
              </a:defRPr>
            </a:pPr>
            <a:r>
              <a:t>문제 상황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69737D"/>
                </a:solidFill>
                <a:latin typeface="Malgun Gothic"/>
              </a:defRPr>
            </a:pPr>
            <a:r>
              <a:t>고령 운전자의 페달 오인으로 인한 사고가 간혹 발생</a:t>
            </a:r>
          </a:p>
          <a:p>
            <a:pPr>
              <a:spcAft>
                <a:spcPts val="1200"/>
              </a:spcAft>
              <a:defRPr sz="1700">
                <a:solidFill>
                  <a:srgbClr val="69737D"/>
                </a:solidFill>
                <a:latin typeface="Malgun Gothic"/>
              </a:defRPr>
            </a:pPr>
            <a:r>
              <a:t>사고 이후 운전자 과실과 차량 이상 여부를 판단할 수 있는 객관적인 기록의 필요성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57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73152" cy="4343400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32A34"/>
                </a:solidFill>
                <a:latin typeface="Malgun Gothic"/>
              </a:defRPr>
            </a:pPr>
            <a:r>
              <a:t>프로젝트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69737D"/>
                </a:solidFill>
                <a:latin typeface="Malgun Gothic"/>
              </a:defRPr>
            </a:pPr>
            <a:r>
              <a:t>Telechips AI-G · D3-G · VCP-G를 통합한 ADAS 환경에서</a:t>
            </a:r>
          </a:p>
          <a:p>
            <a:pPr>
              <a:spcAft>
                <a:spcPts val="1200"/>
              </a:spcAft>
              <a:defRPr sz="1700">
                <a:solidFill>
                  <a:srgbClr val="69737D"/>
                </a:solidFill>
                <a:latin typeface="Malgun Gothic"/>
              </a:defRPr>
            </a:pPr>
            <a:r>
              <a:t>페달 오인 사고에 대응할 수 있는 비상제동 기능을 구현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6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2"/>
                </a:solidFill>
                <a:latin typeface="Malgun Gothic"/>
              </a:defRPr>
            </a:pPr>
            <a:r>
              <a:t>프로젝트 요구사항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Malgun Gothic"/>
              </a:defRPr>
            </a:pPr>
            <a:r>
              <a:t>구현해야 할 핵심 기능 3가지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73152" cy="4251960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32A34"/>
                </a:solidFill>
                <a:latin typeface="Malgun Gothic"/>
              </a:defRPr>
            </a:pPr>
            <a:r>
              <a:t>01  비상제동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80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69737D"/>
                </a:solidFill>
                <a:latin typeface="Malgun Gothic"/>
              </a:defRPr>
            </a:pPr>
            <a:r>
              <a:t>브레이크 페달과 별개로</a:t>
            </a:r>
          </a:p>
          <a:p>
            <a:pPr>
              <a:spcAft>
                <a:spcPts val="1200"/>
              </a:spcAft>
              <a:defRPr sz="1600">
                <a:solidFill>
                  <a:srgbClr val="69737D"/>
                </a:solidFill>
                <a:latin typeface="Malgun Gothic"/>
              </a:defRPr>
            </a:pPr>
            <a:r>
              <a:t>차량을 즉시 정지시킬 수 있는 비상제동 기능 구현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73152" cy="425196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6916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32A34"/>
                </a:solidFill>
                <a:latin typeface="Malgun Gothic"/>
              </a:defRPr>
            </a:pPr>
            <a:r>
              <a:t>02  제동 상태 유지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86000"/>
            <a:ext cx="2880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69737D"/>
                </a:solidFill>
                <a:latin typeface="Malgun Gothic"/>
              </a:defRPr>
            </a:pPr>
            <a:r>
              <a:t>비상제동이 동작하면</a:t>
            </a:r>
          </a:p>
          <a:p>
            <a:pPr>
              <a:spcAft>
                <a:spcPts val="1200"/>
              </a:spcAft>
              <a:defRPr sz="1600">
                <a:solidFill>
                  <a:srgbClr val="69737D"/>
                </a:solidFill>
                <a:latin typeface="Malgun Gothic"/>
              </a:defRPr>
            </a:pPr>
            <a:r>
              <a:t>시스템을 다시 시작하기 전까지 바퀴가 재구동되지 않도록 유지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73152" cy="425196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6916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32A34"/>
                </a:solidFill>
                <a:latin typeface="Malgun Gothic"/>
              </a:defRPr>
            </a:pPr>
            <a:r>
              <a:t>03  데이터 백업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86000"/>
            <a:ext cx="2880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69737D"/>
                </a:solidFill>
                <a:latin typeface="Malgun Gothic"/>
              </a:defRPr>
            </a:pPr>
            <a:r>
              <a:t>비상제동과 동시에</a:t>
            </a:r>
          </a:p>
          <a:p>
            <a:pPr>
              <a:spcAft>
                <a:spcPts val="1200"/>
              </a:spcAft>
              <a:defRPr sz="1600">
                <a:solidFill>
                  <a:srgbClr val="69737D"/>
                </a:solidFill>
                <a:latin typeface="Malgun Gothic"/>
              </a:defRPr>
            </a:pPr>
            <a:r>
              <a:t>AI-G의 객체 인식 결과(JSON)를 D3-G의 NDJSON 파일로 백업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6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2"/>
                </a:solidFill>
                <a:latin typeface="Malgun Gothic"/>
              </a:defRPr>
            </a:pPr>
            <a:r>
              <a:t>시스템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Malgun Gothic"/>
              </a:defRPr>
            </a:pPr>
            <a:r>
              <a:t>AI-G의 객체 인식 결과 백업과 VCP-G 비상제동을 D3-G에서 함께 시작</a:t>
            </a:r>
          </a:p>
        </p:txBody>
      </p:sp>
      <p:pic>
        <p:nvPicPr>
          <p:cNvPr id="4" name="Picture 3" descr="스크린샷 2026-09-21 1602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623560" cy="481907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37960" y="1325880"/>
            <a:ext cx="192024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4"/>
                </a:solidFill>
                <a:latin typeface="Malgun Gothic"/>
              </a:defRPr>
            </a:pPr>
            <a:r>
              <a:t>AI-G</a:t>
            </a:r>
            <a:br/>
            <a:r>
              <a:t>JSON Stream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1325880"/>
            <a:ext cx="205740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4"/>
                </a:solidFill>
                <a:latin typeface="Malgun Gothic"/>
              </a:defRPr>
            </a:pPr>
            <a:r>
              <a:t>D3-G</a:t>
            </a:r>
            <a:br/>
            <a:r>
              <a:t>Shell Script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58200" y="1627632"/>
            <a:ext cx="822960" cy="0"/>
          </a:xfrm>
          <a:prstGeom prst="line">
            <a:avLst/>
          </a:prstGeom>
          <a:ln w="2540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366760" y="1207008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rial"/>
              </a:defRPr>
            </a:pPr>
            <a:r>
              <a:t>TCP : 9998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2514600"/>
            <a:ext cx="2240280" cy="822960"/>
          </a:xfrm>
          <a:prstGeom prst="roundRect">
            <a:avLst/>
          </a:prstGeom>
          <a:solidFill>
            <a:srgbClr val="F7F9FB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A34"/>
                </a:solidFill>
                <a:latin typeface="Malgun Gothic"/>
              </a:defRPr>
            </a:pPr>
            <a:r>
              <a:t>Background</a:t>
            </a:r>
            <a:br/>
            <a:r>
              <a:t>nc → results.ndjson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514600"/>
            <a:ext cx="2240280" cy="822960"/>
          </a:xfrm>
          <a:prstGeom prst="roundRect">
            <a:avLst/>
          </a:prstGeom>
          <a:solidFill>
            <a:srgbClr val="F7F9FB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A34"/>
                </a:solidFill>
                <a:latin typeface="Malgun Gothic"/>
              </a:defRPr>
            </a:pPr>
            <a:r>
              <a:t>CAN</a:t>
            </a:r>
            <a:br/>
            <a:r>
              <a:t>emer_brake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653527" y="1920240"/>
            <a:ext cx="2651761" cy="594360"/>
          </a:xfrm>
          <a:prstGeom prst="line">
            <a:avLst/>
          </a:prstGeom>
          <a:ln w="1905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259568" y="1920240"/>
            <a:ext cx="45720" cy="594360"/>
          </a:xfrm>
          <a:prstGeom prst="line">
            <a:avLst/>
          </a:prstGeom>
          <a:ln w="1905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0" y="3657600"/>
            <a:ext cx="224028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2A34"/>
                </a:solidFill>
                <a:latin typeface="Malgun Gothic"/>
              </a:defRPr>
            </a:pPr>
            <a:r>
              <a:t>VCP-G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259568" y="3337560"/>
            <a:ext cx="0" cy="320040"/>
          </a:xfrm>
          <a:prstGeom prst="line">
            <a:avLst/>
          </a:prstGeom>
          <a:ln w="25400">
            <a:solidFill>
              <a:srgbClr val="23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01000" y="4617720"/>
            <a:ext cx="1600200" cy="685800"/>
          </a:xfrm>
          <a:prstGeom prst="roundRect">
            <a:avLst/>
          </a:prstGeom>
          <a:solidFill>
            <a:srgbClr val="FCF4F4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4"/>
                </a:solidFill>
                <a:latin typeface="Malgun Gothic"/>
              </a:defRPr>
            </a:pPr>
            <a:r>
              <a:t>Motor</a:t>
            </a:r>
            <a:br/>
            <a:r>
              <a:t>정지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21240" y="4617720"/>
            <a:ext cx="1600200" cy="685800"/>
          </a:xfrm>
          <a:prstGeom prst="roundRect">
            <a:avLst/>
          </a:prstGeom>
          <a:solidFill>
            <a:srgbClr val="F6FAF6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4"/>
                </a:solidFill>
                <a:latin typeface="Malgun Gothic"/>
              </a:defRPr>
            </a:pPr>
            <a:r>
              <a:t>LED</a:t>
            </a:r>
            <a:br/>
            <a:r>
              <a:t>비상등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8796528" y="4343400"/>
            <a:ext cx="1463040" cy="274320"/>
          </a:xfrm>
          <a:prstGeom prst="line">
            <a:avLst/>
          </a:prstGeom>
          <a:ln w="1905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259568" y="4343400"/>
            <a:ext cx="457200" cy="274320"/>
          </a:xfrm>
          <a:prstGeom prst="line">
            <a:avLst/>
          </a:prstGeom>
          <a:ln w="1905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92240" y="553212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A34"/>
                </a:solidFill>
                <a:latin typeface="Consolas"/>
              </a:defRPr>
            </a:pPr>
            <a:r>
              <a:t>nc 192.168.0.100 9998 &gt; results.ndjson &amp;</a:t>
            </a:r>
          </a:p>
          <a:p>
            <a:pPr>
              <a:defRPr sz="919">
                <a:solidFill>
                  <a:srgbClr val="232A34"/>
                </a:solidFill>
                <a:latin typeface="Consolas"/>
              </a:defRPr>
            </a:pPr>
            <a:r>
              <a:t>sudo python3 ch6_Can_Communication/IPC_Example.py emer_brake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6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2"/>
                </a:solidFill>
                <a:latin typeface="Malgun Gothic"/>
              </a:defRPr>
            </a:pPr>
            <a:r>
              <a:t>비상제동 제어 로직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Malgun Gothic"/>
              </a:defRPr>
            </a:pPr>
            <a:r>
              <a:t>CAN 비상제동 메시지 수신 전·후의 FreeRTOS Task 동작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461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4434840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32A34"/>
                </a:solidFill>
                <a:latin typeface="Malgun Gothic"/>
              </a:defRPr>
            </a:pPr>
            <a:r>
              <a:t>평상시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26974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69737D"/>
                </a:solidFill>
                <a:latin typeface="Malgun Gothic"/>
              </a:defRPr>
            </a:pPr>
            <a:r>
              <a:t>비상등 Task는 생성 직후 Suspend 상태로 대기</a:t>
            </a:r>
          </a:p>
          <a:p>
            <a:pPr>
              <a:spcAft>
                <a:spcPts val="1200"/>
              </a:spcAft>
              <a:defRPr sz="1600">
                <a:solidFill>
                  <a:srgbClr val="69737D"/>
                </a:solidFill>
                <a:latin typeface="Malgun Gothic"/>
              </a:defRPr>
            </a:pPr>
            <a:r>
              <a:t>속도 제어 Task는 정상적으로 실행되어 모터를 제어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417320"/>
            <a:ext cx="73152" cy="443484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32A34"/>
                </a:solidFill>
                <a:latin typeface="Malgun Gothic"/>
              </a:defRPr>
            </a:pPr>
            <a:r>
              <a:t>비상제동 메시지 수신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40280"/>
            <a:ext cx="26974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69737D"/>
                </a:solidFill>
                <a:latin typeface="Malgun Gothic"/>
              </a:defRPr>
            </a:pPr>
            <a:r>
              <a:rPr dirty="0"/>
              <a:t>VCP-</a:t>
            </a:r>
            <a:r>
              <a:rPr dirty="0" err="1"/>
              <a:t>G가</a:t>
            </a:r>
            <a:r>
              <a:rPr dirty="0"/>
              <a:t> </a:t>
            </a:r>
            <a:r>
              <a:rPr dirty="0" err="1"/>
              <a:t>CAN을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</a:t>
            </a:r>
            <a:r>
              <a:rPr dirty="0" err="1"/>
              <a:t>비상제동</a:t>
            </a:r>
            <a:r>
              <a:rPr dirty="0"/>
              <a:t> </a:t>
            </a:r>
            <a:r>
              <a:rPr dirty="0" err="1"/>
              <a:t>명령을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2461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417320"/>
            <a:ext cx="73152" cy="443484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16459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32A34"/>
                </a:solidFill>
                <a:latin typeface="Malgun Gothic"/>
              </a:defRPr>
            </a:pPr>
            <a:r>
              <a:t>비상제동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240280"/>
            <a:ext cx="269747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69737D"/>
                </a:solidFill>
                <a:latin typeface="Malgun Gothic"/>
              </a:defRPr>
            </a:pPr>
            <a:r>
              <a:rPr lang="ko-KR" altLang="en-US" dirty="0"/>
              <a:t>모터 구동 출력을 즉시 차단</a:t>
            </a:r>
          </a:p>
          <a:p>
            <a:pPr>
              <a:spcAft>
                <a:spcPts val="1200"/>
              </a:spcAft>
              <a:defRPr sz="1500">
                <a:solidFill>
                  <a:srgbClr val="69737D"/>
                </a:solidFill>
                <a:latin typeface="Malgun Gothic"/>
              </a:defRPr>
            </a:pPr>
            <a:r>
              <a:rPr lang="ko-KR" altLang="en-US" dirty="0"/>
              <a:t>속도 제어 </a:t>
            </a:r>
            <a:r>
              <a:rPr lang="en-US" altLang="ko-KR" dirty="0"/>
              <a:t>Task</a:t>
            </a:r>
            <a:r>
              <a:rPr lang="ko-KR" altLang="en-US" dirty="0"/>
              <a:t>를 </a:t>
            </a:r>
            <a:r>
              <a:rPr lang="en-US" altLang="ko-KR" dirty="0"/>
              <a:t>Suspend</a:t>
            </a:r>
            <a:r>
              <a:rPr lang="ko-KR" altLang="en-US" dirty="0"/>
              <a:t>하여 이후 속도 명령에 의한 재구동을 방지</a:t>
            </a:r>
            <a:endParaRPr lang="en-US" altLang="ko-KR" dirty="0"/>
          </a:p>
          <a:p>
            <a:pPr>
              <a:spcAft>
                <a:spcPts val="1200"/>
              </a:spcAft>
              <a:defRPr sz="1500">
                <a:solidFill>
                  <a:srgbClr val="69737D"/>
                </a:solidFill>
                <a:latin typeface="Malgun Gothic"/>
              </a:defRPr>
            </a:pPr>
            <a:r>
              <a:rPr dirty="0" err="1"/>
              <a:t>비상등</a:t>
            </a:r>
            <a:r>
              <a:rPr dirty="0"/>
              <a:t> </a:t>
            </a:r>
            <a:r>
              <a:rPr dirty="0" err="1"/>
              <a:t>Task를</a:t>
            </a:r>
            <a:r>
              <a:rPr dirty="0"/>
              <a:t> </a:t>
            </a:r>
            <a:r>
              <a:rPr dirty="0" err="1"/>
              <a:t>Resume하여</a:t>
            </a:r>
            <a:r>
              <a:rPr dirty="0"/>
              <a:t> </a:t>
            </a:r>
            <a:r>
              <a:rPr dirty="0" err="1"/>
              <a:t>비상등</a:t>
            </a:r>
            <a:r>
              <a:rPr dirty="0"/>
              <a:t> </a:t>
            </a:r>
            <a:r>
              <a:rPr dirty="0" err="1"/>
              <a:t>점멸</a:t>
            </a:r>
            <a:r>
              <a:rPr dirty="0"/>
              <a:t> </a:t>
            </a:r>
            <a:r>
              <a:rPr dirty="0" err="1"/>
              <a:t>시작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6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2"/>
                </a:solidFill>
                <a:latin typeface="Malgun Gothic"/>
              </a:defRPr>
            </a:pPr>
            <a:r>
              <a:t>동작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Malgun Gothic"/>
              </a:defRPr>
            </a:pPr>
            <a:r>
              <a:t>실제 비상제동 동작 영상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6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7" name="TOPST RC CAR">
            <a:hlinkClick r:id="" action="ppaction://media"/>
            <a:extLst>
              <a:ext uri="{FF2B5EF4-FFF2-40B4-BE49-F238E27FC236}">
                <a16:creationId xmlns:a16="http://schemas.microsoft.com/office/drawing/2014/main" id="{F2526898-6932-B12D-591F-BFD0EF9C6FD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85419" y="617220"/>
            <a:ext cx="3928832" cy="56564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2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2"/>
                </a:solidFill>
                <a:latin typeface="Malgun Gothic"/>
              </a:defRPr>
            </a:pPr>
            <a:r>
              <a:t>향후 개선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Malgun Gothic"/>
              </a:defRPr>
            </a:pPr>
            <a:r>
              <a:t>현재 구현의 한계를 바탕으로 이벤트 기반·안전 중심 구조로 개선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4251960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A34"/>
                </a:solidFill>
                <a:latin typeface="Malgun Gothic"/>
              </a:defRPr>
            </a:pPr>
            <a:r>
              <a:t>01  CAN 수신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063239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69737D"/>
                </a:solidFill>
                <a:latin typeface="Malgun Gothic"/>
              </a:defRPr>
            </a:pPr>
            <a:r>
              <a:rPr dirty="0" err="1"/>
              <a:t>현재</a:t>
            </a:r>
            <a:r>
              <a:rPr dirty="0"/>
              <a:t>: </a:t>
            </a:r>
            <a:r>
              <a:rPr dirty="0" err="1"/>
              <a:t>CAN_DemoTask에서</a:t>
            </a:r>
            <a:r>
              <a:rPr dirty="0"/>
              <a:t> Polling </a:t>
            </a:r>
            <a:r>
              <a:rPr dirty="0" err="1"/>
              <a:t>방식으로</a:t>
            </a:r>
            <a:r>
              <a:rPr dirty="0"/>
              <a:t> </a:t>
            </a:r>
            <a:r>
              <a:rPr dirty="0" err="1"/>
              <a:t>수신</a:t>
            </a:r>
            <a:endParaRPr dirty="0"/>
          </a:p>
          <a:p>
            <a:pPr>
              <a:spcAft>
                <a:spcPts val="700"/>
              </a:spcAft>
              <a:defRPr sz="1250">
                <a:solidFill>
                  <a:srgbClr val="69737D"/>
                </a:solidFill>
                <a:latin typeface="Malgun Gothic"/>
              </a:defRPr>
            </a:pPr>
            <a:r>
              <a:rPr dirty="0" err="1"/>
              <a:t>개선</a:t>
            </a:r>
            <a:r>
              <a:rPr dirty="0"/>
              <a:t>: CAN RX Interrupt </a:t>
            </a:r>
            <a:r>
              <a:rPr dirty="0" err="1"/>
              <a:t>기반으로</a:t>
            </a:r>
            <a:r>
              <a:rPr dirty="0"/>
              <a:t> </a:t>
            </a:r>
            <a:r>
              <a:rPr dirty="0" err="1"/>
              <a:t>변경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370832" y="132588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0832" y="1325880"/>
            <a:ext cx="64008" cy="4251960"/>
          </a:xfrm>
          <a:prstGeom prst="rect">
            <a:avLst/>
          </a:prstGeom>
          <a:solidFill>
            <a:srgbClr val="37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2" y="149047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A34"/>
                </a:solidFill>
                <a:latin typeface="Malgun Gothic"/>
              </a:defRPr>
            </a:pPr>
            <a:r>
              <a:t>02  비상제동 상태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1920240"/>
            <a:ext cx="3063239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69737D"/>
                </a:solidFill>
                <a:latin typeface="Malgun Gothic"/>
              </a:defRPr>
            </a:pPr>
            <a:r>
              <a:t>현재: MotorSpeedTask Suspend로 재구동 방지</a:t>
            </a:r>
          </a:p>
          <a:p>
            <a:pPr>
              <a:spcAft>
                <a:spcPts val="700"/>
              </a:spcAft>
              <a:defRPr sz="1250">
                <a:solidFill>
                  <a:srgbClr val="69737D"/>
                </a:solidFill>
                <a:latin typeface="Malgun Gothic"/>
              </a:defRPr>
            </a:pPr>
            <a:r>
              <a:t>개선: NORMAL / EMERGENCY_LATCHED 상태를 명시적으로 관리</a:t>
            </a:r>
          </a:p>
          <a:p>
            <a:pPr>
              <a:spcAft>
                <a:spcPts val="700"/>
              </a:spcAft>
              <a:defRPr sz="1250">
                <a:solidFill>
                  <a:srgbClr val="69737D"/>
                </a:solidFill>
                <a:latin typeface="Malgun Gothic"/>
              </a:defRPr>
            </a:pPr>
            <a:r>
              <a:t>모터·비상등·통신 기능이 동일한 시스템 상태를 참조하도록 확장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32588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01583" y="1325880"/>
            <a:ext cx="64008" cy="4251960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0183" y="149047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A34"/>
                </a:solidFill>
                <a:latin typeface="Malgun Gothic"/>
              </a:defRPr>
            </a:pPr>
            <a:r>
              <a:t>03  Fail-safe 강화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1920240"/>
            <a:ext cx="3063239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69737D"/>
                </a:solidFill>
                <a:latin typeface="Malgun Gothic"/>
              </a:defRPr>
            </a:pPr>
            <a:r>
              <a:t>현재: CAN 비상제동 명령의 정상 전달을 전제로 동작</a:t>
            </a:r>
          </a:p>
          <a:p>
            <a:pPr>
              <a:spcAft>
                <a:spcPts val="700"/>
              </a:spcAft>
              <a:defRPr sz="1250">
                <a:solidFill>
                  <a:srgbClr val="69737D"/>
                </a:solidFill>
                <a:latin typeface="Malgun Gothic"/>
              </a:defRPr>
            </a:pPr>
            <a:r>
              <a:t>CAN Timeout / Watchdog 등 이상 감지 추가</a:t>
            </a:r>
          </a:p>
          <a:p>
            <a:pPr>
              <a:spcAft>
                <a:spcPts val="700"/>
              </a:spcAft>
              <a:defRPr sz="1250">
                <a:solidFill>
                  <a:srgbClr val="69737D"/>
                </a:solidFill>
                <a:latin typeface="Malgun Gothic"/>
              </a:defRPr>
            </a:pPr>
            <a:r>
              <a:t>통신 또는 소프트웨어 이상 상황에서도 안전 상태로 전환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6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232C8-A02C-8367-62B8-8A3C1A96B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34EDF25-50E7-8B18-2A61-80C24AE31D20}"/>
              </a:ext>
            </a:extLst>
          </p:cNvPr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6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171AE1-A68D-4E46-0377-FE4F342F1C05}"/>
              </a:ext>
            </a:extLst>
          </p:cNvPr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8C9311-BAF1-B175-23AA-C260B5443782}"/>
              </a:ext>
            </a:extLst>
          </p:cNvPr>
          <p:cNvSpPr txBox="1"/>
          <p:nvPr/>
        </p:nvSpPr>
        <p:spPr>
          <a:xfrm>
            <a:off x="3480619" y="2566220"/>
            <a:ext cx="47686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dirty="0"/>
              <a:t>Q&amp;A</a:t>
            </a:r>
            <a:endParaRPr lang="ko-KR" altLang="en-US" sz="7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675A2C-4AF7-5272-236A-30A8C0F9C742}"/>
              </a:ext>
            </a:extLst>
          </p:cNvPr>
          <p:cNvSpPr txBox="1"/>
          <p:nvPr/>
        </p:nvSpPr>
        <p:spPr>
          <a:xfrm>
            <a:off x="1858556" y="5714689"/>
            <a:ext cx="801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데모 영상 링크 </a:t>
            </a:r>
            <a:r>
              <a:rPr lang="en-US" altLang="ko-KR" dirty="0"/>
              <a:t>: https://youtube.com/shorts/BWPRe65WPfo?si=vhz1aQj-TSd6FKqJ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6833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383</Words>
  <Application>Microsoft Office PowerPoint</Application>
  <PresentationFormat>와이드스크린</PresentationFormat>
  <Paragraphs>69</Paragraphs>
  <Slides>8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도훈 김</cp:lastModifiedBy>
  <cp:revision>6</cp:revision>
  <dcterms:created xsi:type="dcterms:W3CDTF">2013-01-27T09:14:16Z</dcterms:created>
  <dcterms:modified xsi:type="dcterms:W3CDTF">2026-10-05T05:55:20Z</dcterms:modified>
  <cp:category/>
</cp:coreProperties>
</file>